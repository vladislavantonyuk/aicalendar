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971" r:id="rId4"/>
  </p:sldMasterIdLst>
  <p:notesMasterIdLst>
    <p:notesMasterId r:id="rId37"/>
  </p:notesMasterIdLst>
  <p:handoutMasterIdLst>
    <p:handoutMasterId r:id="rId38"/>
  </p:handoutMasterIdLst>
  <p:sldIdLst>
    <p:sldId id="5308" r:id="rId5"/>
    <p:sldId id="2076138272" r:id="rId6"/>
    <p:sldId id="2076138236" r:id="rId7"/>
    <p:sldId id="2076138295" r:id="rId8"/>
    <p:sldId id="2076138292" r:id="rId9"/>
    <p:sldId id="2076138291" r:id="rId10"/>
    <p:sldId id="2076138284" r:id="rId11"/>
    <p:sldId id="2076138275" r:id="rId12"/>
    <p:sldId id="2076138286" r:id="rId13"/>
    <p:sldId id="2076138285" r:id="rId14"/>
    <p:sldId id="2076138276" r:id="rId15"/>
    <p:sldId id="2076138277" r:id="rId16"/>
    <p:sldId id="2076138280" r:id="rId17"/>
    <p:sldId id="2076138281" r:id="rId18"/>
    <p:sldId id="2076138296" r:id="rId19"/>
    <p:sldId id="2076138293" r:id="rId20"/>
    <p:sldId id="2076138290" r:id="rId21"/>
    <p:sldId id="2076138294" r:id="rId22"/>
    <p:sldId id="2076138249" r:id="rId23"/>
    <p:sldId id="2076138259" r:id="rId24"/>
    <p:sldId id="2076138260" r:id="rId25"/>
    <p:sldId id="2076138261" r:id="rId26"/>
    <p:sldId id="2076138287" r:id="rId27"/>
    <p:sldId id="2076138289" r:id="rId28"/>
    <p:sldId id="2076138288" r:id="rId29"/>
    <p:sldId id="2076138273" r:id="rId30"/>
    <p:sldId id="2076138263" r:id="rId31"/>
    <p:sldId id="2076138264" r:id="rId32"/>
    <p:sldId id="2076138269" r:id="rId33"/>
    <p:sldId id="2076138297" r:id="rId34"/>
    <p:sldId id="2076138274" r:id="rId35"/>
    <p:sldId id="2076138267" r:id="rId36"/>
  </p:sldIdLst>
  <p:sldSz cx="18288000" cy="10288588"/>
  <p:notesSz cx="6858000" cy="9144000"/>
  <p:custDataLst>
    <p:tags r:id="rId39"/>
  </p:custDataLst>
  <p:defaultTextStyle>
    <a:defPPr>
      <a:defRPr lang="ru-RU"/>
    </a:defPPr>
    <a:lvl1pPr marL="0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5831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1662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7493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3324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29155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4986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0817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6648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userDrawn="1">
          <p15:clr>
            <a:srgbClr val="A4A3A4"/>
          </p15:clr>
        </p15:guide>
        <p15:guide id="6" pos="5736" userDrawn="1">
          <p15:clr>
            <a:srgbClr val="A4A3A4"/>
          </p15:clr>
        </p15:guide>
        <p15:guide id="7" orient="horz" pos="463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72E9C2A-70AF-2BB6-560A-C7C8DD90BD66}" name="Dinara Zhurgunova" initials="DZ" userId="S::dinara.zhurgunova@dataart.com::64c455c2-071d-44d4-a431-183a980f5fa8" providerId="AD"/>
  <p188:author id="{3C717A6C-5750-509B-79C4-7765774805B5}" name="Gareth Tedford" initials="GT" userId="S::gareth.tedford@dataart.com::3806e0ca-65db-4238-ba8c-88f2765f9c2c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vetlana Komarova" initials="SK" lastIdx="34" clrIdx="0"/>
  <p:cmAuthor id="2" name="Luba Kabrits" initials="LK" lastIdx="9" clrIdx="1">
    <p:extLst>
      <p:ext uri="{19B8F6BF-5375-455C-9EA6-DF929625EA0E}">
        <p15:presenceInfo xmlns:p15="http://schemas.microsoft.com/office/powerpoint/2012/main" userId="S-1-5-21-1227322100-1798780813-526660263-1102" providerId="AD"/>
      </p:ext>
    </p:extLst>
  </p:cmAuthor>
  <p:cmAuthor id="3" name="Simon" initials="L" lastIdx="24" clrIdx="2">
    <p:extLst>
      <p:ext uri="{19B8F6BF-5375-455C-9EA6-DF929625EA0E}">
        <p15:presenceInfo xmlns:p15="http://schemas.microsoft.com/office/powerpoint/2012/main" userId="Sim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F4FF"/>
    <a:srgbClr val="ECF6FF"/>
    <a:srgbClr val="5834AD"/>
    <a:srgbClr val="028866"/>
    <a:srgbClr val="239CC4"/>
    <a:srgbClr val="0CCCCC"/>
    <a:srgbClr val="EDEBED"/>
    <a:srgbClr val="FFDE55"/>
    <a:srgbClr val="B0E6E5"/>
    <a:srgbClr val="B0E5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62" autoAdjust="0"/>
    <p:restoredTop sz="89438" autoAdjust="0"/>
  </p:normalViewPr>
  <p:slideViewPr>
    <p:cSldViewPr snapToGrid="0" snapToObjects="1" showGuides="1">
      <p:cViewPr varScale="1">
        <p:scale>
          <a:sx n="109" d="100"/>
          <a:sy n="109" d="100"/>
        </p:scale>
        <p:origin x="322" y="106"/>
      </p:cViewPr>
      <p:guideLst>
        <p:guide orient="horz"/>
        <p:guide pos="5736"/>
        <p:guide orient="horz" pos="4633"/>
      </p:guideLst>
    </p:cSldViewPr>
  </p:slideViewPr>
  <p:outlineViewPr>
    <p:cViewPr>
      <p:scale>
        <a:sx n="33" d="100"/>
        <a:sy n="33" d="100"/>
      </p:scale>
      <p:origin x="0" y="-125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 snapToObjects="1" showGuides="1">
      <p:cViewPr varScale="1">
        <p:scale>
          <a:sx n="72" d="100"/>
          <a:sy n="72" d="100"/>
        </p:scale>
        <p:origin x="3024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gs" Target="tags/tag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commentAuthors" Target="commentAuthors.xml"/><Relationship Id="rId45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A9AEF9C-9EAA-43ED-AB0C-F5D65E5451D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5968ED-7729-4DFF-B474-AE62CFCD26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82D12-8E76-4BF7-B04D-25028A212136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1C6160A-5D9D-4669-AB8F-E0701BFB5D3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3E5B9B-FFD7-456A-B820-8AB841C7B4F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EC947-5780-466A-9FE8-509B7E7AD1E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31462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4AAA6-B921-3542-8173-0DD764489E8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2DAF58-8BBF-5942-9EE2-B93E2FFABF9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009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31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62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93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324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155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986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817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648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 err="1">
                <a:solidFill>
                  <a:srgbClr val="C9D1D9"/>
                </a:solidFill>
                <a:effectLst/>
                <a:latin typeface="-apple-system"/>
              </a:rPr>
              <a:t>AICalendar</a:t>
            </a:r>
            <a:r>
              <a:rPr lang="en-US" b="0" i="0" dirty="0">
                <a:solidFill>
                  <a:srgbClr val="C9D1D9"/>
                </a:solidFill>
                <a:effectLst/>
                <a:latin typeface="-apple-system"/>
              </a:rPr>
              <a:t> is a cross-platform AI-powered calendar application built with .NET MAUI and </a:t>
            </a:r>
            <a:r>
              <a:rPr lang="en-US" b="0" i="0" dirty="0" err="1">
                <a:solidFill>
                  <a:srgbClr val="C9D1D9"/>
                </a:solidFill>
                <a:effectLst/>
                <a:latin typeface="-apple-system"/>
              </a:rPr>
              <a:t>Blazor</a:t>
            </a:r>
            <a:r>
              <a:rPr lang="en-US" b="0" i="0" dirty="0">
                <a:solidFill>
                  <a:srgbClr val="C9D1D9"/>
                </a:solidFill>
                <a:effectLst/>
                <a:latin typeface="-apple-system"/>
              </a:rPr>
              <a:t>. It helps users efficiently manage their schedules, appointments, and events with intelligent features and a modern user experience.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4110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reduces the need for explicit .</a:t>
            </a:r>
            <a:r>
              <a:rPr lang="en-US" dirty="0" err="1"/>
              <a:t>AsSpan</a:t>
            </a:r>
            <a:r>
              <a:rPr lang="en-US" dirty="0"/>
              <a:t>()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9721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previous versions, C# already supported extensions, but they were limited to methods. Now, we can easily extend a type with properties, methods, events, and even introduce operators (except implicit and explicit operators).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56223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3716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Beginning with C# 14, the argument to </a:t>
            </a:r>
            <a:r>
              <a:rPr lang="en-US" dirty="0" err="1"/>
              <a:t>nameof</a:t>
            </a:r>
            <a:r>
              <a:rPr lang="en-US" dirty="0"/>
              <a:t> can be an unbound generic type. For example, </a:t>
            </a:r>
            <a:r>
              <a:rPr lang="en-US" dirty="0" err="1"/>
              <a:t>nameof</a:t>
            </a:r>
            <a:r>
              <a:rPr lang="en-US" dirty="0"/>
              <a:t>(List&lt;&gt;) evaluates to List. In earlier versions of C#, only closed generic types, such as List&lt;int&gt;, could be used to return the List 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2129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93D65-B0CD-5068-A423-9BDDB185B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74955-5874-33CC-95E3-1646B0F97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8E6C3-C8C6-F2A3-E2C6-4070BE8BE7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reduces the need for explicit .</a:t>
            </a:r>
            <a:r>
              <a:rPr lang="en-US" dirty="0" err="1"/>
              <a:t>AsSpan</a:t>
            </a:r>
            <a:r>
              <a:rPr lang="en-US" dirty="0"/>
              <a:t>()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A6427-2745-E103-F6BA-556954AF38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6565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GetUserHandler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72696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51416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26426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275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3716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MCP C# SDK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320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8FD265-FB7F-F107-AFCC-1693130053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52600" y="4311369"/>
            <a:ext cx="9335118" cy="149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2050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69245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35520" y="3019926"/>
            <a:ext cx="3912791" cy="62752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3452C3-62E9-B227-2E33-4B701A0A71FA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085288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8058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+ Partn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6973" y="3019926"/>
            <a:ext cx="3912791" cy="62752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3452C3-62E9-B227-2E33-4B701A0A71FA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085288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15D315A8-3BCE-EA96-6941-B46511A1103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357224" y="2922104"/>
            <a:ext cx="3490911" cy="809121"/>
          </a:xfrm>
          <a:prstGeom prst="rect">
            <a:avLst/>
          </a:prstGeom>
          <a:noFill/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2540223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ellow Title Slide 1 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3452C3-62E9-B227-2E33-4B701A0A71FA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085288"/>
            <a:ext cx="1312862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7">
            <a:extLst>
              <a:ext uri="{FF2B5EF4-FFF2-40B4-BE49-F238E27FC236}">
                <a16:creationId xmlns:a16="http://schemas.microsoft.com/office/drawing/2014/main" id="{3831627D-EAE2-257F-F82B-EBA99F418E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09" y="3015033"/>
            <a:ext cx="3906000" cy="62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2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ellow Title Slide 2 Lin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4" name="Graphic 7">
            <a:extLst>
              <a:ext uri="{FF2B5EF4-FFF2-40B4-BE49-F238E27FC236}">
                <a16:creationId xmlns:a16="http://schemas.microsoft.com/office/drawing/2014/main" id="{3831627D-EAE2-257F-F82B-EBA99F418E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09" y="3015033"/>
            <a:ext cx="3906000" cy="6264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41DD1ED-9A35-FC84-372E-4B36D272331E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860540"/>
            <a:ext cx="1312862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0437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93847" cy="809121"/>
          </a:xfrm>
          <a:noFill/>
        </p:spPr>
        <p:txBody>
          <a:bodyPr/>
          <a:lstStyle>
            <a:lvl1pPr marL="0" marR="0" indent="0" algn="l" defTabSz="130026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6974" y="3019926"/>
            <a:ext cx="3912791" cy="627523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3A778A-CC5C-0269-60B9-023A8A680D3F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860540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3617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+ Partn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410938" cy="809121"/>
          </a:xfrm>
          <a:noFill/>
        </p:spPr>
        <p:txBody>
          <a:bodyPr/>
          <a:lstStyle>
            <a:lvl1pPr marL="0" marR="0" indent="0" algn="l" defTabSz="130026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6973" y="3019926"/>
            <a:ext cx="3912791" cy="627523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3A778A-CC5C-0269-60B9-023A8A680D3F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860540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F3BB2DD8-A1A3-5E32-B88E-F9779FDE689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357224" y="2922104"/>
            <a:ext cx="3490911" cy="809121"/>
          </a:xfrm>
          <a:prstGeom prst="rect">
            <a:avLst/>
          </a:prstGeom>
          <a:noFill/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3931775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2 Lines + Partn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 marL="0" marR="0" indent="0" algn="l" defTabSz="130026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6973" y="3019926"/>
            <a:ext cx="3912791" cy="627523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3A778A-CC5C-0269-60B9-023A8A680D3F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860540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F3BB2DD8-A1A3-5E32-B88E-F9779FDE689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357224" y="2922104"/>
            <a:ext cx="3490911" cy="809121"/>
          </a:xfrm>
          <a:prstGeom prst="rect">
            <a:avLst/>
          </a:prstGeom>
          <a:noFill/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413163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Content 1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2660650"/>
            <a:ext cx="15408275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8590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1 Row + 2nd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1" y="1080001"/>
            <a:ext cx="10879000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2660650"/>
            <a:ext cx="15408275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585CB97-F77F-0D1C-FCAA-9E51213DC8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2666620" y="1080002"/>
            <a:ext cx="1681162" cy="565905"/>
          </a:xfrm>
        </p:spPr>
        <p:txBody>
          <a:bodyPr anchor="ctr"/>
          <a:lstStyle>
            <a:lvl1pPr algn="ctr">
              <a:defRPr sz="1800"/>
            </a:lvl1pPr>
          </a:lstStyle>
          <a:p>
            <a:r>
              <a:rPr lang="en-IL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3373077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 + 2nd logo be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1" y="1080001"/>
            <a:ext cx="10879000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2660650"/>
            <a:ext cx="15408275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585CB97-F77F-0D1C-FCAA-9E51213DC8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4692139" y="2098981"/>
            <a:ext cx="2155998" cy="565905"/>
          </a:xfrm>
        </p:spPr>
        <p:txBody>
          <a:bodyPr anchor="ctr"/>
          <a:lstStyle>
            <a:lvl1pPr algn="ctr">
              <a:defRPr sz="1800"/>
            </a:lvl1pPr>
          </a:lstStyle>
          <a:p>
            <a:r>
              <a:rPr lang="en-IL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125328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Content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5" y="2660650"/>
            <a:ext cx="749458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F5A0D4-A45A-FD2F-C720-7A45C4A044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353551" y="2660650"/>
            <a:ext cx="749458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8129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1 Line Content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5" y="2660650"/>
            <a:ext cx="485933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F5A0D4-A45A-FD2F-C720-7A45C4A044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713539" y="2660650"/>
            <a:ext cx="4857750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8FEE6BE-87AA-59D8-25CC-C1658A1D00A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1990388" y="2660650"/>
            <a:ext cx="4857750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7974134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brand  1 Line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5" y="2660650"/>
            <a:ext cx="485933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F5A0D4-A45A-FD2F-C720-7A45C4A044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713538" y="2660650"/>
            <a:ext cx="485933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8FEE6BE-87AA-59D8-25CC-C1658A1D00A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1987211" y="2660650"/>
            <a:ext cx="4860927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C4B459-BD28-A77C-5089-C405A0917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9667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1 Lin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E2A806DD-DE4A-96B8-7445-46FBE82E966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353550" y="2660650"/>
            <a:ext cx="7494586" cy="62642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42E869-6558-665F-75AA-05132E6005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439863" y="2660403"/>
            <a:ext cx="7494587" cy="62645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591479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 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42E869-6558-665F-75AA-05132E6005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94325" y="2660650"/>
            <a:ext cx="7496175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4" name="Рисунок 4">
            <a:extLst>
              <a:ext uri="{FF2B5EF4-FFF2-40B4-BE49-F238E27FC236}">
                <a16:creationId xmlns:a16="http://schemas.microsoft.com/office/drawing/2014/main" id="{228F655E-4DAC-1A56-3F20-51037241F5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39863" y="2655084"/>
            <a:ext cx="3059293" cy="6371374"/>
          </a:xfrm>
          <a:prstGeom prst="rect">
            <a:avLst/>
          </a:prstGeom>
        </p:spPr>
      </p:pic>
      <p:sp>
        <p:nvSpPr>
          <p:cNvPr id="9" name="Рисунок 6">
            <a:extLst>
              <a:ext uri="{FF2B5EF4-FFF2-40B4-BE49-F238E27FC236}">
                <a16:creationId xmlns:a16="http://schemas.microsoft.com/office/drawing/2014/main" id="{6B561E78-2740-9A45-5EAA-E2745A21D3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80744" y="2815176"/>
            <a:ext cx="2777247" cy="6050821"/>
          </a:xfrm>
          <a:prstGeom prst="roundRect">
            <a:avLst>
              <a:gd name="adj" fmla="val 11154"/>
            </a:avLst>
          </a:pr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724802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1 Lin Phone_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42E869-6558-665F-75AA-05132E6005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10475" y="2660650"/>
            <a:ext cx="6596064" cy="62642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10" name="Рисунок 14">
            <a:extLst>
              <a:ext uri="{FF2B5EF4-FFF2-40B4-BE49-F238E27FC236}">
                <a16:creationId xmlns:a16="http://schemas.microsoft.com/office/drawing/2014/main" id="{55B947F3-A944-0F65-D31B-F5E205EF2F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6969" r="31545" b="18048"/>
          <a:stretch/>
        </p:blipFill>
        <p:spPr>
          <a:xfrm>
            <a:off x="-121444" y="2660399"/>
            <a:ext cx="7189789" cy="9161927"/>
          </a:xfrm>
          <a:prstGeom prst="rect">
            <a:avLst/>
          </a:prstGeom>
        </p:spPr>
      </p:pic>
      <p:sp>
        <p:nvSpPr>
          <p:cNvPr id="11" name="Рисунок 16">
            <a:extLst>
              <a:ext uri="{FF2B5EF4-FFF2-40B4-BE49-F238E27FC236}">
                <a16:creationId xmlns:a16="http://schemas.microsoft.com/office/drawing/2014/main" id="{45FEF48C-C27D-4C0C-A739-4295D768678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642820" y="2890434"/>
            <a:ext cx="4579749" cy="8931893"/>
          </a:xfrm>
          <a:custGeom>
            <a:avLst/>
            <a:gdLst>
              <a:gd name="connsiteX0" fmla="*/ 531771 w 4767536"/>
              <a:gd name="connsiteY0" fmla="*/ 0 h 8981853"/>
              <a:gd name="connsiteX1" fmla="*/ 4235765 w 4767536"/>
              <a:gd name="connsiteY1" fmla="*/ 0 h 8981853"/>
              <a:gd name="connsiteX2" fmla="*/ 4767536 w 4767536"/>
              <a:gd name="connsiteY2" fmla="*/ 531771 h 8981853"/>
              <a:gd name="connsiteX3" fmla="*/ 4767536 w 4767536"/>
              <a:gd name="connsiteY3" fmla="*/ 8981853 h 8981853"/>
              <a:gd name="connsiteX4" fmla="*/ 0 w 4767536"/>
              <a:gd name="connsiteY4" fmla="*/ 8981853 h 8981853"/>
              <a:gd name="connsiteX5" fmla="*/ 0 w 4767536"/>
              <a:gd name="connsiteY5" fmla="*/ 531771 h 8981853"/>
              <a:gd name="connsiteX6" fmla="*/ 531771 w 4767536"/>
              <a:gd name="connsiteY6" fmla="*/ 0 h 8981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67536" h="8981853">
                <a:moveTo>
                  <a:pt x="531771" y="0"/>
                </a:moveTo>
                <a:lnTo>
                  <a:pt x="4235765" y="0"/>
                </a:lnTo>
                <a:cubicBezTo>
                  <a:pt x="4529454" y="0"/>
                  <a:pt x="4767536" y="238082"/>
                  <a:pt x="4767536" y="531771"/>
                </a:cubicBezTo>
                <a:lnTo>
                  <a:pt x="4767536" y="8981853"/>
                </a:lnTo>
                <a:lnTo>
                  <a:pt x="0" y="8981853"/>
                </a:lnTo>
                <a:lnTo>
                  <a:pt x="0" y="531771"/>
                </a:lnTo>
                <a:cubicBezTo>
                  <a:pt x="0" y="238082"/>
                  <a:pt x="238082" y="0"/>
                  <a:pt x="531771" y="0"/>
                </a:cubicBez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</p:spPr>
        <p:txBody>
          <a:bodyPr wrap="square">
            <a:noAutofit/>
          </a:bodyPr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313297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 Phone_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42E869-6558-665F-75AA-05132E6005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990389" y="2660399"/>
            <a:ext cx="4857750" cy="62645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12" name="Рисунок 5">
            <a:extLst>
              <a:ext uri="{FF2B5EF4-FFF2-40B4-BE49-F238E27FC236}">
                <a16:creationId xmlns:a16="http://schemas.microsoft.com/office/drawing/2014/main" id="{8007D75F-F07F-9697-FE17-74F32F27DD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3256" y="2622236"/>
            <a:ext cx="11064685" cy="6361638"/>
          </a:xfrm>
          <a:prstGeom prst="rect">
            <a:avLst/>
          </a:prstGeom>
        </p:spPr>
      </p:pic>
      <p:sp>
        <p:nvSpPr>
          <p:cNvPr id="13" name="Рисунок 14">
            <a:extLst>
              <a:ext uri="{FF2B5EF4-FFF2-40B4-BE49-F238E27FC236}">
                <a16:creationId xmlns:a16="http://schemas.microsoft.com/office/drawing/2014/main" id="{8960E639-C20C-62DA-9453-E293046D2E2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482301" y="2706893"/>
            <a:ext cx="8885382" cy="5838537"/>
          </a:xfrm>
          <a:custGeom>
            <a:avLst/>
            <a:gdLst>
              <a:gd name="connsiteX0" fmla="*/ 240579 w 8885382"/>
              <a:gd name="connsiteY0" fmla="*/ 0 h 5838537"/>
              <a:gd name="connsiteX1" fmla="*/ 8644803 w 8885382"/>
              <a:gd name="connsiteY1" fmla="*/ 0 h 5838537"/>
              <a:gd name="connsiteX2" fmla="*/ 8885382 w 8885382"/>
              <a:gd name="connsiteY2" fmla="*/ 240579 h 5838537"/>
              <a:gd name="connsiteX3" fmla="*/ 8885382 w 8885382"/>
              <a:gd name="connsiteY3" fmla="*/ 5838537 h 5838537"/>
              <a:gd name="connsiteX4" fmla="*/ 0 w 8885382"/>
              <a:gd name="connsiteY4" fmla="*/ 5838537 h 5838537"/>
              <a:gd name="connsiteX5" fmla="*/ 0 w 8885382"/>
              <a:gd name="connsiteY5" fmla="*/ 240579 h 5838537"/>
              <a:gd name="connsiteX6" fmla="*/ 240579 w 8885382"/>
              <a:gd name="connsiteY6" fmla="*/ 0 h 5838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885382" h="5838537">
                <a:moveTo>
                  <a:pt x="240579" y="0"/>
                </a:moveTo>
                <a:lnTo>
                  <a:pt x="8644803" y="0"/>
                </a:lnTo>
                <a:cubicBezTo>
                  <a:pt x="8777671" y="0"/>
                  <a:pt x="8885382" y="107711"/>
                  <a:pt x="8885382" y="240579"/>
                </a:cubicBezTo>
                <a:lnTo>
                  <a:pt x="8885382" y="5838537"/>
                </a:lnTo>
                <a:lnTo>
                  <a:pt x="0" y="5838537"/>
                </a:lnTo>
                <a:lnTo>
                  <a:pt x="0" y="240579"/>
                </a:lnTo>
                <a:cubicBezTo>
                  <a:pt x="0" y="107711"/>
                  <a:pt x="107711" y="0"/>
                  <a:pt x="240579" y="0"/>
                </a:cubicBez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Screenshot</a:t>
            </a:r>
            <a:endParaRPr lang="ru-RU" dirty="0"/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527389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8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B33528C-0E33-01B8-E90A-FEF8CCE4B7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39863" y="5610578"/>
            <a:ext cx="3535767" cy="3314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8143E31A-83EA-4B30-8C48-646C484081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94326" y="5610578"/>
            <a:ext cx="3535767" cy="3314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17653A-CF4E-7C22-2337-E4266D7245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348790" y="5610578"/>
            <a:ext cx="3535767" cy="3314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618D825B-BD9F-C325-CADE-5B4174074B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12372" y="5610578"/>
            <a:ext cx="3535766" cy="3314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E19CCB5D-66E8-033D-58CD-01E307A63A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439864" y="2660400"/>
            <a:ext cx="3535766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30AABCA3-499C-B0A3-BFF3-30F97C9D0C5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394325" y="2660400"/>
            <a:ext cx="3535767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A50F3A9C-A740-9673-57C7-F95DE07AB18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343078" y="2660400"/>
            <a:ext cx="3547422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5CE53F2C-1F13-BC49-9F1C-2FBB5EA205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303486" y="2660400"/>
            <a:ext cx="3544652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42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+ Number Yellow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081463" y="4172430"/>
            <a:ext cx="12730457" cy="3023708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D03417-EBA9-B679-AEE7-EE39B72C85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-1078033" y="3258282"/>
            <a:ext cx="5241680" cy="5299563"/>
          </a:xfrm>
        </p:spPr>
        <p:txBody>
          <a:bodyPr>
            <a:noAutofit/>
          </a:bodyPr>
          <a:lstStyle>
            <a:lvl1pPr>
              <a:defRPr sz="34000" b="0" i="0">
                <a:latin typeface="DA_FuturaPT Demi" panose="020B0502020204020303" pitchFamily="34" charset="77"/>
                <a:ea typeface="DA_FuturaPT Demi" panose="020B0502020204020303" pitchFamily="34" charset="77"/>
              </a:defRPr>
            </a:lvl1pPr>
          </a:lstStyle>
          <a:p>
            <a:pPr lvl="0"/>
            <a:r>
              <a:rPr lang="en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41308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Yellow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081463" y="4172492"/>
            <a:ext cx="12730457" cy="3023646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54143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+ Number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081463" y="4172492"/>
            <a:ext cx="12730457" cy="3023646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D03417-EBA9-B679-AEE7-EE39B72C85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-1078033" y="3258282"/>
            <a:ext cx="5159496" cy="5299563"/>
          </a:xfrm>
        </p:spPr>
        <p:txBody>
          <a:bodyPr>
            <a:noAutofit/>
          </a:bodyPr>
          <a:lstStyle>
            <a:lvl1pPr>
              <a:defRPr sz="34000" b="0" i="0">
                <a:latin typeface="DA_FuturaPT Demi" panose="020B0502020204020303" pitchFamily="34" charset="77"/>
                <a:ea typeface="DA_FuturaPT Demi" panose="020B0502020204020303" pitchFamily="34" charset="77"/>
              </a:defRPr>
            </a:lvl1pPr>
          </a:lstStyle>
          <a:p>
            <a:pPr lvl="0"/>
            <a:r>
              <a:rPr lang="en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11385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081463" y="4172492"/>
            <a:ext cx="12730457" cy="3023646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98113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2 Lines Content 1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3255821"/>
            <a:ext cx="15408275" cy="5669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14821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2 Lines Content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4" y="3255821"/>
            <a:ext cx="7494586" cy="5669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723214-D230-0B0B-B30C-00BBE5B4EB7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353551" y="3255821"/>
            <a:ext cx="7494588" cy="5669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2053818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2 Lines Content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4" y="3255821"/>
            <a:ext cx="4859336" cy="5669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723214-D230-0B0B-B30C-00BBE5B4EB7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990388" y="3255821"/>
            <a:ext cx="4857750" cy="5669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B26630-3995-17B2-1692-B6242538846A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713538" y="3255821"/>
            <a:ext cx="4857751" cy="5669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188487461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2 Lines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EE0B31A4-BAFC-A312-E3EA-FC01E66FE4D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353550" y="3223213"/>
            <a:ext cx="7494586" cy="570171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DCAD0EC-D22E-4CF6-3617-41AB3A17854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439863" y="3255821"/>
            <a:ext cx="7494587" cy="5669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75477590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7A4DC28-88C8-0D5C-ACB9-B1BA936A6F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31758C8-9322-A522-E00F-91F4707ADB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0873592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27DCC8-9883-0261-8BA8-46FF242A01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4572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7619804-EC76-2F20-B293-02B62CB11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3495970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27DCC8-9883-0261-8BA8-46FF242A01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7619804-EC76-2F20-B293-02B62CB11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414454187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2 Lines 8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3D6518A-46ED-43CD-5445-E6003482B3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39863" y="6208295"/>
            <a:ext cx="3538537" cy="2716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E2EC851C-E6F3-4ED1-FD14-D5074A29B4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94325" y="6208295"/>
            <a:ext cx="3540126" cy="2716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91FAD7A-5AC6-7DFA-D613-8CBE9B2CAE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353549" y="6208295"/>
            <a:ext cx="3536951" cy="2716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1F032167-3397-F6A8-D0F2-48152E2D99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27064" y="6208295"/>
            <a:ext cx="3521073" cy="2716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E5D4294A-704E-9755-8524-E105092A929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439863" y="3254400"/>
            <a:ext cx="3538537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41F0B34C-4D77-69BF-1F16-965B8ADCEE2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394325" y="3254400"/>
            <a:ext cx="3540125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1B9E5252-9E77-F300-2467-B597D301CD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353550" y="3254400"/>
            <a:ext cx="3536950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7">
            <a:extLst>
              <a:ext uri="{FF2B5EF4-FFF2-40B4-BE49-F238E27FC236}">
                <a16:creationId xmlns:a16="http://schemas.microsoft.com/office/drawing/2014/main" id="{B4D7D18A-6D08-0646-AE3D-79C36496EB5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309600" y="3254400"/>
            <a:ext cx="3538538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0455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icture Placeholder 7"/>
          <p:cNvSpPr>
            <a:spLocks noGrp="1"/>
          </p:cNvSpPr>
          <p:nvPr>
            <p:ph type="pic" sz="quarter" idx="20"/>
          </p:nvPr>
        </p:nvSpPr>
        <p:spPr>
          <a:xfrm>
            <a:off x="0" y="1"/>
            <a:ext cx="18288000" cy="1028858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vert="horz" anchor="ctr" anchorCtr="0"/>
          <a:lstStyle>
            <a:lvl1pPr marL="0" marR="0" indent="0" algn="ctr" defTabSz="13002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B133"/>
              </a:buClr>
              <a:buSzTx/>
              <a:buFontTx/>
              <a:buNone/>
              <a:tabLst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858224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 Yello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172492"/>
            <a:ext cx="12730457" cy="1859474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Thank you!</a:t>
            </a:r>
            <a:endParaRPr lang="ru-RU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A4BB7241-3E6F-C4B6-7451-324C780CFD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81464" y="6501161"/>
            <a:ext cx="7510462" cy="242376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Full Name</a:t>
            </a:r>
            <a:br>
              <a:rPr lang="en-US" dirty="0"/>
            </a:br>
            <a:r>
              <a:rPr lang="en-US" dirty="0"/>
              <a:t>Job Title</a:t>
            </a:r>
            <a:br>
              <a:rPr lang="en-US" dirty="0"/>
            </a:br>
            <a:r>
              <a:rPr lang="en-US" dirty="0"/>
              <a:t>Company Name</a:t>
            </a:r>
            <a:br>
              <a:rPr lang="en-US" dirty="0"/>
            </a:br>
            <a:r>
              <a:rPr lang="en-US" dirty="0"/>
              <a:t>Your Email</a:t>
            </a:r>
          </a:p>
        </p:txBody>
      </p:sp>
    </p:spTree>
    <p:extLst>
      <p:ext uri="{BB962C8B-B14F-4D97-AF65-F5344CB8AC3E}">
        <p14:creationId xmlns:p14="http://schemas.microsoft.com/office/powerpoint/2010/main" val="28859141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172492"/>
            <a:ext cx="12730457" cy="1851101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Thank you!</a:t>
            </a:r>
            <a:endParaRPr lang="ru-RU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A4BB7241-3E6F-C4B6-7451-324C780CFD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81464" y="6501161"/>
            <a:ext cx="7510462" cy="242376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Full Name</a:t>
            </a:r>
            <a:br>
              <a:rPr lang="en-US" dirty="0"/>
            </a:br>
            <a:r>
              <a:rPr lang="en-US" dirty="0"/>
              <a:t>Job Title</a:t>
            </a:r>
            <a:br>
              <a:rPr lang="en-US" dirty="0"/>
            </a:br>
            <a:r>
              <a:rPr lang="en-US" dirty="0"/>
              <a:t>Company Name</a:t>
            </a:r>
            <a:br>
              <a:rPr lang="en-US" dirty="0"/>
            </a:br>
            <a:r>
              <a:rPr lang="en-US" dirty="0"/>
              <a:t>Your Email</a:t>
            </a:r>
          </a:p>
        </p:txBody>
      </p:sp>
    </p:spTree>
    <p:extLst>
      <p:ext uri="{BB962C8B-B14F-4D97-AF65-F5344CB8AC3E}">
        <p14:creationId xmlns:p14="http://schemas.microsoft.com/office/powerpoint/2010/main" val="20659933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Content 2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76081" y="1147821"/>
            <a:ext cx="11846413" cy="849927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edit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4E9DA78-BE1F-9B43-A0F1-21CEB812E776}"/>
              </a:ext>
            </a:extLst>
          </p:cNvPr>
          <p:cNvSpPr/>
          <p:nvPr userDrawn="1"/>
        </p:nvSpPr>
        <p:spPr>
          <a:xfrm>
            <a:off x="1476078" y="1997747"/>
            <a:ext cx="1317520" cy="72000"/>
          </a:xfrm>
          <a:prstGeom prst="rect">
            <a:avLst/>
          </a:prstGeom>
          <a:solidFill>
            <a:srgbClr val="FFB1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z="2426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FF7A5-29D2-F208-1FE6-11A607EA8C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30401" y="1359125"/>
            <a:ext cx="2177511" cy="34922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E9E60-99B1-62E3-601B-244563AA4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822904" y="9104312"/>
            <a:ext cx="2025233" cy="504921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373533-7D10-1589-CE42-6208B3284C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047162"/>
            <a:ext cx="6156325" cy="5619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4185874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0000" y="1080000"/>
            <a:ext cx="15408138" cy="158065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Sample Text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AF341-81A0-D0EC-3917-0BE4AA58EA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A4FB8-CCA0-1F57-2DA0-498CFCC7B3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40000" y="9104312"/>
            <a:ext cx="10117136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C0347B0-D0F9-4B91-9BC1-4DAC2ABC3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9864" y="2664000"/>
            <a:ext cx="15408138" cy="626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r>
              <a:rPr lang="en-US" dirty="0"/>
              <a:t>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 err="1"/>
              <a:t>Eigth</a:t>
            </a:r>
            <a:r>
              <a:rPr lang="en-US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3948771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2" r:id="rId1"/>
    <p:sldLayoutId id="2147483973" r:id="rId2"/>
    <p:sldLayoutId id="2147484035" r:id="rId3"/>
    <p:sldLayoutId id="2147484032" r:id="rId4"/>
    <p:sldLayoutId id="2147484040" r:id="rId5"/>
    <p:sldLayoutId id="2147484033" r:id="rId6"/>
    <p:sldLayoutId id="2147484034" r:id="rId7"/>
    <p:sldLayoutId id="2147484052" r:id="rId8"/>
    <p:sldLayoutId id="2147483976" r:id="rId9"/>
    <p:sldLayoutId id="2147484049" r:id="rId10"/>
    <p:sldLayoutId id="2147484050" r:id="rId11"/>
    <p:sldLayoutId id="2147484023" r:id="rId12"/>
    <p:sldLayoutId id="2147484051" r:id="rId13"/>
    <p:sldLayoutId id="2147484024" r:id="rId14"/>
    <p:sldLayoutId id="2147484053" r:id="rId15"/>
    <p:sldLayoutId id="2147484030" r:id="rId16"/>
    <p:sldLayoutId id="2147484055" r:id="rId17"/>
    <p:sldLayoutId id="2147484054" r:id="rId18"/>
    <p:sldLayoutId id="2147484031" r:id="rId19"/>
    <p:sldLayoutId id="2147484036" r:id="rId20"/>
    <p:sldLayoutId id="2147484037" r:id="rId21"/>
    <p:sldLayoutId id="2147484038" r:id="rId22"/>
    <p:sldLayoutId id="2147484039" r:id="rId23"/>
    <p:sldLayoutId id="2147484025" r:id="rId24"/>
    <p:sldLayoutId id="2147484026" r:id="rId25"/>
    <p:sldLayoutId id="2147484027" r:id="rId26"/>
    <p:sldLayoutId id="2147484028" r:id="rId27"/>
    <p:sldLayoutId id="2147484047" r:id="rId28"/>
    <p:sldLayoutId id="2147484048" r:id="rId29"/>
    <p:sldLayoutId id="2147484029" r:id="rId30"/>
    <p:sldLayoutId id="2147484046" r:id="rId31"/>
    <p:sldLayoutId id="2147483997" r:id="rId32"/>
    <p:sldLayoutId id="2147484044" r:id="rId33"/>
    <p:sldLayoutId id="2147484045" r:id="rId34"/>
    <p:sldLayoutId id="2147483977" r:id="rId35"/>
  </p:sldLayoutIdLst>
  <p:hf hdr="0" ftr="0" dt="0"/>
  <p:txStyles>
    <p:titleStyle>
      <a:lvl1pPr algn="l" defTabSz="1300262" rtl="0" eaLnBrk="1" latinLnBrk="0" hangingPunct="1">
        <a:lnSpc>
          <a:spcPct val="90000"/>
        </a:lnSpc>
        <a:spcBef>
          <a:spcPct val="0"/>
        </a:spcBef>
        <a:buNone/>
        <a:defRPr sz="540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B133"/>
        </a:buClr>
        <a:buFontTx/>
        <a:buNone/>
        <a:defRPr sz="2400" b="0" i="0" kern="1200">
          <a:solidFill>
            <a:schemeClr val="tx1"/>
          </a:solidFill>
          <a:latin typeface="DA_FuturaPT Book" panose="020B0502020204020303" pitchFamily="34" charset="0"/>
          <a:ea typeface="DA_FuturaPT Book" panose="020B0502020204020303" pitchFamily="34" charset="0"/>
          <a:cs typeface="+mn-cs"/>
        </a:defRPr>
      </a:lvl1pPr>
      <a:lvl2pPr marL="0" indent="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120000"/>
        <a:buFontTx/>
        <a:buNone/>
        <a:defRPr sz="2400" b="0" i="0" kern="1200">
          <a:ln>
            <a:noFill/>
          </a:ln>
          <a:solidFill>
            <a:schemeClr val="tx1"/>
          </a:solidFill>
          <a:latin typeface="DA_FuturaPT Demi" panose="020B0502020204020303" pitchFamily="34" charset="77"/>
          <a:ea typeface="DA_FuturaPT Demi" panose="020B0502020204020303" pitchFamily="34" charset="77"/>
          <a:cs typeface="+mn-cs"/>
        </a:defRPr>
      </a:lvl2pPr>
      <a:lvl3pPr marL="396000" indent="-39600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DA_FuturaPT Book" panose="020B0502020204020303" pitchFamily="34" charset="0"/>
          <a:ea typeface="DA_FuturaPT Book" panose="020B0502020204020303" pitchFamily="34" charset="0"/>
          <a:cs typeface="+mn-cs"/>
        </a:defRPr>
      </a:lvl3pPr>
      <a:lvl4pPr marL="572400" indent="-39600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DA_FuturaPT Book" panose="020B0502020204020303" pitchFamily="34" charset="0"/>
          <a:ea typeface="DA_FuturaPT Book" panose="020B0502020204020303" pitchFamily="34" charset="0"/>
          <a:cs typeface="+mn-cs"/>
        </a:defRPr>
      </a:lvl4pPr>
      <a:lvl5pPr marL="1076400" indent="-39600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Font typeface="Arial" panose="020B0604020202020204" pitchFamily="34" charset="0"/>
        <a:buChar char="•"/>
        <a:tabLst>
          <a:tab pos="8994988" algn="l"/>
        </a:tabLst>
        <a:defRPr sz="1800" b="0" i="0" kern="1200">
          <a:solidFill>
            <a:schemeClr val="tx1"/>
          </a:solidFill>
          <a:latin typeface="+mn-lt"/>
          <a:ea typeface="DA_FuturaPT Book" panose="020B0502020204020303" pitchFamily="34" charset="0"/>
          <a:cs typeface="+mn-cs"/>
        </a:defRPr>
      </a:lvl5pPr>
      <a:lvl6pPr marL="342900" indent="-34290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+mj-lt"/>
        <a:buAutoNum type="arabicPeriod"/>
        <a:defRPr sz="2400" b="0" i="0" kern="1200">
          <a:solidFill>
            <a:schemeClr val="tx1"/>
          </a:solidFill>
          <a:latin typeface="DA_FuturaPT Medium" panose="020B0502020204020303" pitchFamily="34" charset="77"/>
          <a:ea typeface="DA_FuturaPT Medium" panose="020B0502020204020303" pitchFamily="34" charset="77"/>
          <a:cs typeface="+mn-cs"/>
        </a:defRPr>
      </a:lvl6pPr>
      <a:lvl7pPr marL="0" indent="0" algn="l" defTabSz="1300262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00" indent="-324000" algn="l" defTabSz="1300262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300262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131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262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393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525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0656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0787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0919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050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78" userDrawn="1">
          <p15:clr>
            <a:srgbClr val="F26B43"/>
          </p15:clr>
        </p15:guide>
        <p15:guide id="3" pos="907" userDrawn="1">
          <p15:clr>
            <a:srgbClr val="F26B43"/>
          </p15:clr>
        </p15:guide>
        <p15:guide id="4" orient="horz" pos="1676" userDrawn="1">
          <p15:clr>
            <a:srgbClr val="F26B43"/>
          </p15:clr>
        </p15:guide>
        <p15:guide id="11" orient="horz" pos="5735" userDrawn="1">
          <p15:clr>
            <a:srgbClr val="F26B43"/>
          </p15:clr>
        </p15:guide>
        <p15:guide id="27" orient="horz" pos="1245" userDrawn="1">
          <p15:clr>
            <a:srgbClr val="F26B43"/>
          </p15:clr>
        </p15:guide>
        <p15:guide id="28" pos="1474" userDrawn="1">
          <p15:clr>
            <a:srgbClr val="F26B43"/>
          </p15:clr>
        </p15:guide>
        <p15:guide id="29" pos="1739" userDrawn="1">
          <p15:clr>
            <a:srgbClr val="F26B43"/>
          </p15:clr>
        </p15:guide>
        <p15:guide id="30" pos="2302" userDrawn="1">
          <p15:clr>
            <a:srgbClr val="F26B43"/>
          </p15:clr>
        </p15:guide>
        <p15:guide id="31" pos="2571" userDrawn="1">
          <p15:clr>
            <a:srgbClr val="F26B43"/>
          </p15:clr>
        </p15:guide>
        <p15:guide id="32" pos="3136" userDrawn="1">
          <p15:clr>
            <a:srgbClr val="F26B43"/>
          </p15:clr>
        </p15:guide>
        <p15:guide id="33" pos="3398" userDrawn="1">
          <p15:clr>
            <a:srgbClr val="F26B43"/>
          </p15:clr>
        </p15:guide>
        <p15:guide id="34" pos="3968" userDrawn="1">
          <p15:clr>
            <a:srgbClr val="F26B43"/>
          </p15:clr>
        </p15:guide>
        <p15:guide id="35" pos="4229" userDrawn="1">
          <p15:clr>
            <a:srgbClr val="F26B43"/>
          </p15:clr>
        </p15:guide>
        <p15:guide id="36" pos="4794" userDrawn="1">
          <p15:clr>
            <a:srgbClr val="F26B43"/>
          </p15:clr>
        </p15:guide>
        <p15:guide id="37" pos="5065" userDrawn="1">
          <p15:clr>
            <a:srgbClr val="F26B43"/>
          </p15:clr>
        </p15:guide>
        <p15:guide id="38" pos="5628" userDrawn="1">
          <p15:clr>
            <a:srgbClr val="F26B43"/>
          </p15:clr>
        </p15:guide>
        <p15:guide id="39" pos="5892" userDrawn="1">
          <p15:clr>
            <a:srgbClr val="F26B43"/>
          </p15:clr>
        </p15:guide>
        <p15:guide id="40" pos="6457" userDrawn="1">
          <p15:clr>
            <a:srgbClr val="F26B43"/>
          </p15:clr>
        </p15:guide>
        <p15:guide id="41" pos="6721" userDrawn="1">
          <p15:clr>
            <a:srgbClr val="F26B43"/>
          </p15:clr>
        </p15:guide>
        <p15:guide id="42" pos="7291" userDrawn="1">
          <p15:clr>
            <a:srgbClr val="F26B43"/>
          </p15:clr>
        </p15:guide>
        <p15:guide id="43" pos="7553" userDrawn="1">
          <p15:clr>
            <a:srgbClr val="F26B43"/>
          </p15:clr>
        </p15:guide>
        <p15:guide id="44" pos="8120" userDrawn="1">
          <p15:clr>
            <a:srgbClr val="F26B43"/>
          </p15:clr>
        </p15:guide>
        <p15:guide id="45" pos="8384" userDrawn="1">
          <p15:clr>
            <a:srgbClr val="F26B43"/>
          </p15:clr>
        </p15:guide>
        <p15:guide id="46" pos="8949" userDrawn="1">
          <p15:clr>
            <a:srgbClr val="F26B43"/>
          </p15:clr>
        </p15:guide>
        <p15:guide id="47" pos="9220" userDrawn="1">
          <p15:clr>
            <a:srgbClr val="F26B43"/>
          </p15:clr>
        </p15:guide>
        <p15:guide id="48" pos="9783" userDrawn="1">
          <p15:clr>
            <a:srgbClr val="F26B43"/>
          </p15:clr>
        </p15:guide>
        <p15:guide id="49" pos="10046" userDrawn="1">
          <p15:clr>
            <a:srgbClr val="F26B43"/>
          </p15:clr>
        </p15:guide>
        <p15:guide id="50" orient="horz" pos="6053" userDrawn="1">
          <p15:clr>
            <a:srgbClr val="F26B43"/>
          </p15:clr>
        </p15:guide>
        <p15:guide id="51" pos="10613" userDrawn="1">
          <p15:clr>
            <a:srgbClr val="F26B43"/>
          </p15:clr>
        </p15:guide>
        <p15:guide id="52" orient="horz" pos="56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evblogs.microsoft.com/dotnet/announcing-dotnet-10/" TargetMode="Externa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mailto:Colorful.Console@1.2.15" TargetMode="Externa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blogs.microsoft.com/dotnet/announcing-dotnet-10/" TargetMode="Externa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nuget.org/packages/VladislavAntonyuk.DotNetTemplates" TargetMode="Externa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writeabout.net/2016/04/28/manage-dependencies-with-nuget-and-tfs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spire/" TargetMode="External"/><Relationship Id="rId2" Type="http://schemas.openxmlformats.org/officeDocument/2006/relationships/hyperlink" Target="https://learn.microsoft.com/en-us/dotnet/core/whats-new/dotnet-9/overview" TargetMode="Externa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learn.microsoft.com/en-us/dotnet/ai/get-started/dotnet-ai-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7410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0F21C8D-98A7-2615-E478-F715EEC6C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7D9EC1A-B93F-E9A8-C1B5-C4441D4C4CA3}"/>
              </a:ext>
            </a:extLst>
          </p:cNvPr>
          <p:cNvPicPr>
            <a:picLocks noGrp="1" noChangeAspect="1" noChangeArrowheads="1"/>
          </p:cNvPicPr>
          <p:nvPr>
            <p:ph type="pic" sz="quarter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6" b="7806"/>
          <a:stretch/>
        </p:blipFill>
        <p:spPr bwMode="auto">
          <a:xfrm>
            <a:off x="0" y="0"/>
            <a:ext cx="18288000" cy="10288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2C77A4A-89D5-EB85-FE32-DD0CCECE6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1662" y="1748671"/>
            <a:ext cx="10186869" cy="6791246"/>
          </a:xfrm>
          <a:prstGeom prst="rect">
            <a:avLst/>
          </a:prstGeom>
        </p:spPr>
      </p:pic>
      <p:sp>
        <p:nvSpPr>
          <p:cNvPr id="8" name="Title 3">
            <a:extLst>
              <a:ext uri="{FF2B5EF4-FFF2-40B4-BE49-F238E27FC236}">
                <a16:creationId xmlns:a16="http://schemas.microsoft.com/office/drawing/2014/main" id="{CB5ED60C-843E-C2A3-CFA3-87B89A90F5CC}"/>
              </a:ext>
            </a:extLst>
          </p:cNvPr>
          <p:cNvSpPr txBox="1">
            <a:spLocks/>
          </p:cNvSpPr>
          <p:nvPr/>
        </p:nvSpPr>
        <p:spPr>
          <a:xfrm>
            <a:off x="9144000" y="4204703"/>
            <a:ext cx="9144000" cy="944628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algn="l" defTabSz="130026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.NET Conf 2025 – Ukraine</a:t>
            </a:r>
            <a:endParaRPr lang="en-IL" sz="6000" b="1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7B5D5A0-03F7-620B-408A-C7AAE7CFA496}"/>
              </a:ext>
            </a:extLst>
          </p:cNvPr>
          <p:cNvSpPr txBox="1">
            <a:spLocks/>
          </p:cNvSpPr>
          <p:nvPr/>
        </p:nvSpPr>
        <p:spPr>
          <a:xfrm>
            <a:off x="9082469" y="6233286"/>
            <a:ext cx="9205531" cy="269156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algn="l" defTabSz="130026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Vladislav Antonyuk</a:t>
            </a:r>
          </a:p>
          <a:p>
            <a:pPr algn="ctr"/>
            <a:r>
              <a:rPr lang="en-US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Rostyslav</a:t>
            </a:r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Skrypnik</a:t>
            </a:r>
            <a:endParaRPr lang="en-IL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61452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30A990-8700-1BEC-609C-3726B4E244D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AI-Friendly Calendar!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11B9BD-AC92-BFEF-0598-FB233026D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</p:spPr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3</a:t>
            </a:fld>
            <a:endParaRPr lang="en-RU" dirty="0"/>
          </a:p>
        </p:txBody>
      </p:sp>
      <p:pic>
        <p:nvPicPr>
          <p:cNvPr id="8" name="Content Placeholder 7" descr="A cartoon character holding a calendar">
            <a:extLst>
              <a:ext uri="{FF2B5EF4-FFF2-40B4-BE49-F238E27FC236}">
                <a16:creationId xmlns:a16="http://schemas.microsoft.com/office/drawing/2014/main" id="{86B3A384-72BB-B3EB-7692-DF4A6A6CDD3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439863" y="3294592"/>
            <a:ext cx="7494587" cy="4996391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735F073-F84A-AA7D-5F09-62DEA7BAC803}"/>
              </a:ext>
            </a:extLst>
          </p:cNvPr>
          <p:cNvSpPr txBox="1"/>
          <p:nvPr/>
        </p:nvSpPr>
        <p:spPr>
          <a:xfrm>
            <a:off x="9989527" y="3294591"/>
            <a:ext cx="6117981" cy="499639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4800" dirty="0"/>
              <a:t>AI Scheduling Assistant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4800" dirty="0"/>
              <a:t>Event Management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4800" dirty="0"/>
              <a:t>Cloud Sync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/>
              <a:t>Multi-Platform Support</a:t>
            </a:r>
          </a:p>
        </p:txBody>
      </p:sp>
    </p:spTree>
    <p:extLst>
      <p:ext uri="{BB962C8B-B14F-4D97-AF65-F5344CB8AC3E}">
        <p14:creationId xmlns:p14="http://schemas.microsoft.com/office/powerpoint/2010/main" val="1791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97F9F-E4C0-8446-B749-221758EC5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80DA8-77D7-4DC1-3E92-206C3E61F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10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6D3242-7831-5EE3-26D0-077688DCF5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4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32ED4-EE04-484A-009D-A7528510E63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File base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https://devblogs.microsoft.com/dotnet/announcing-dotnet-10/</a:t>
            </a:r>
            <a:endParaRPr lang="kk-KZ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938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503B7-2C63-94DA-9E56-582485436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10 – file base app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008F1-3D73-8328-6414-E4FD1E7CF0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5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E8DF71F-8273-37E2-7741-DDF11BEE0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861389"/>
              </p:ext>
            </p:extLst>
          </p:nvPr>
        </p:nvGraphicFramePr>
        <p:xfrm>
          <a:off x="1440000" y="2566194"/>
          <a:ext cx="15408136" cy="3830489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7704068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  <a:gridCol w="7704068">
                  <a:extLst>
                    <a:ext uri="{9D8B030D-6E8A-4147-A177-3AD203B41FA5}">
                      <a16:colId xmlns:a16="http://schemas.microsoft.com/office/drawing/2014/main" val="1562820957"/>
                    </a:ext>
                  </a:extLst>
                </a:gridCol>
              </a:tblGrid>
              <a:tr h="3830489">
                <a:tc>
                  <a:txBody>
                    <a:bodyPr/>
                    <a:lstStyle/>
                    <a:p>
                      <a:r>
                        <a:rPr lang="en-US" dirty="0"/>
                        <a:t>#:package </a:t>
                      </a:r>
                      <a:r>
                        <a:rPr lang="en-US" dirty="0">
                          <a:hlinkClick r:id="rId2"/>
                        </a:rPr>
                        <a:t>Colorful.Console@1.2.15</a:t>
                      </a:r>
                      <a:endParaRPr lang="en-US" dirty="0"/>
                    </a:p>
                    <a:p>
                      <a:r>
                        <a:rPr lang="en-US" dirty="0" err="1"/>
                        <a:t>Colorful.Console.WriteAscii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args</a:t>
                      </a:r>
                      <a:r>
                        <a:rPr lang="en-US" dirty="0"/>
                        <a:t>[0]);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dotnet run </a:t>
                      </a:r>
                      <a:r>
                        <a:rPr lang="en-US" dirty="0" err="1"/>
                        <a:t>app.cs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#:sdk </a:t>
                      </a:r>
                      <a:r>
                        <a:rPr lang="en-US" dirty="0" err="1"/>
                        <a:t>Microsoft.NET.Sdk.Web</a:t>
                      </a:r>
                      <a:r>
                        <a:rPr lang="en-US" dirty="0"/>
                        <a:t> </a:t>
                      </a:r>
                    </a:p>
                    <a:p>
                      <a:r>
                        <a:rPr lang="en-US" dirty="0"/>
                        <a:t>#:sdk Aspire.AppHost.Sdk@9.4.1</a:t>
                      </a:r>
                    </a:p>
                    <a:p>
                      <a:r>
                        <a:rPr lang="en-US" dirty="0"/>
                        <a:t>#:property </a:t>
                      </a:r>
                      <a:r>
                        <a:rPr lang="en-US" dirty="0" err="1"/>
                        <a:t>TargetFramework</a:t>
                      </a:r>
                      <a:r>
                        <a:rPr lang="en-US" dirty="0"/>
                        <a:t>=net10.0</a:t>
                      </a:r>
                    </a:p>
                    <a:p>
                      <a:r>
                        <a:rPr lang="en-US" dirty="0"/>
                        <a:t>#:property </a:t>
                      </a:r>
                      <a:r>
                        <a:rPr lang="en-US" dirty="0" err="1"/>
                        <a:t>LangVersion</a:t>
                      </a:r>
                      <a:r>
                        <a:rPr lang="en-US" dirty="0"/>
                        <a:t>=preview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#:package Aspire.Hosting.AppHost@9.4.1</a:t>
                      </a:r>
                    </a:p>
                    <a:p>
                      <a:r>
                        <a:rPr lang="en-US" dirty="0"/>
                        <a:t>#:package Colorful.Console@1.2.15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 err="1"/>
                        <a:t>Colorful.Console.WriteAscii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args</a:t>
                      </a:r>
                      <a:r>
                        <a:rPr lang="en-US" dirty="0"/>
                        <a:t>[0]);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123058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D714B190-5730-93B6-3E5D-9BD135676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6"/>
          <a:stretch>
            <a:fillRect/>
          </a:stretch>
        </p:blipFill>
        <p:spPr>
          <a:xfrm>
            <a:off x="5187950" y="6986438"/>
            <a:ext cx="791209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56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2E193-6E56-FD9F-374C-FBA5C0CA3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10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2966CA-890C-D800-DACF-D641225F0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6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5276F-49C7-A0EE-56C5-492113B01F1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File base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https://devblogs.microsoft.com/dotnet/announcing-dotnet-10/</a:t>
            </a:r>
            <a:endParaRPr lang="kk-KZ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804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C64E6-A3DF-B0A9-27ED-59E00BB80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F4D2B3-4D9D-893C-C964-DA4E46080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7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D9804-D1C1-44BD-BB33-5A286523013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Extension members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Null-conditional assignment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 err="1">
                <a:latin typeface="+mn-lt"/>
                <a:ea typeface="+mn-ea"/>
              </a:rPr>
              <a:t>nameof</a:t>
            </a:r>
            <a:r>
              <a:rPr lang="en-US" sz="2560" dirty="0">
                <a:latin typeface="+mn-lt"/>
                <a:ea typeface="+mn-ea"/>
              </a:rPr>
              <a:t> supports unbound generic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More implicit conversions for Span&lt;T&gt; and </a:t>
            </a:r>
            <a:r>
              <a:rPr lang="en-US" sz="2560" dirty="0" err="1">
                <a:latin typeface="+mn-lt"/>
                <a:ea typeface="+mn-ea"/>
              </a:rPr>
              <a:t>ReadOnlySpan</a:t>
            </a:r>
            <a:r>
              <a:rPr lang="en-US" sz="2560" dirty="0">
                <a:latin typeface="+mn-lt"/>
                <a:ea typeface="+mn-ea"/>
              </a:rPr>
              <a:t>&lt;T&gt;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Modifiers on simple lambda parameters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field backed properties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partial events and constructors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user-defined compound assignment operators</a:t>
            </a:r>
          </a:p>
        </p:txBody>
      </p:sp>
    </p:spTree>
    <p:extLst>
      <p:ext uri="{BB962C8B-B14F-4D97-AF65-F5344CB8AC3E}">
        <p14:creationId xmlns:p14="http://schemas.microsoft.com/office/powerpoint/2010/main" val="1531328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C641-C6A5-9D57-7350-428F2D50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Extension members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A1D6C0-3ED5-84A1-48DF-699A0A90C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8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C24A0FF-0B5C-2206-4285-E4C9FFC36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190335"/>
              </p:ext>
            </p:extLst>
          </p:nvPr>
        </p:nvGraphicFramePr>
        <p:xfrm>
          <a:off x="1440000" y="2670731"/>
          <a:ext cx="15408137" cy="4947126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5408137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</a:tblGrid>
              <a:tr h="4947126">
                <a:tc>
                  <a:txBody>
                    <a:bodyPr/>
                    <a:lstStyle/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public static class Enumerable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// Extension block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extension&lt;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source) // extension members for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Extension property: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bool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IsEmpty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=&gt; !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source.Any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();</a:t>
                      </a:r>
                    </a:p>
                    <a:p>
                      <a:endParaRPr lang="en-US" sz="2560" kern="1200" dirty="0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Extension method: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Where(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Func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, bool&gt; predicate) { ... }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}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}</a:t>
                      </a:r>
                      <a:endParaRPr lang="en-US" sz="256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094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31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C641-C6A5-9D57-7350-428F2D50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Extension members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A1D6C0-3ED5-84A1-48DF-699A0A90C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9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C24A0FF-0B5C-2206-4285-E4C9FFC36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136577"/>
              </p:ext>
            </p:extLst>
          </p:nvPr>
        </p:nvGraphicFramePr>
        <p:xfrm>
          <a:off x="0" y="2172494"/>
          <a:ext cx="18288000" cy="5943600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8288000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</a:tblGrid>
              <a:tr h="4947126">
                <a:tc>
                  <a:txBody>
                    <a:bodyPr/>
                    <a:lstStyle/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public static class Enumerable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// extension block, with a receiver type only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extension&lt;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&gt;) // static extension members for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&lt;Source&gt;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static extension method: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static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Combine(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first,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second) { ... }</a:t>
                      </a:r>
                    </a:p>
                    <a:p>
                      <a:endParaRPr lang="en-US" sz="2560" kern="1200" dirty="0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static extension property: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static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Identity =&gt;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Enumerable.Empty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&gt;();</a:t>
                      </a:r>
                    </a:p>
                    <a:p>
                      <a:endParaRPr lang="en-US" sz="2560" kern="1200" dirty="0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static user defined operator: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static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operator + 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left,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right) =&gt;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left.Concat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(right);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}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}</a:t>
                      </a:r>
                      <a:endParaRPr lang="en-US" sz="256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094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555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C641-C6A5-9D57-7350-428F2D50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Extension members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A1D6C0-3ED5-84A1-48DF-699A0A90C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10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C24A0FF-0B5C-2206-4285-E4C9FFC36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884850"/>
              </p:ext>
            </p:extLst>
          </p:nvPr>
        </p:nvGraphicFramePr>
        <p:xfrm>
          <a:off x="689317" y="2572068"/>
          <a:ext cx="16909366" cy="494712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454683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  <a:gridCol w="8454683">
                  <a:extLst>
                    <a:ext uri="{9D8B030D-6E8A-4147-A177-3AD203B41FA5}">
                      <a16:colId xmlns:a16="http://schemas.microsoft.com/office/drawing/2014/main" val="1562820957"/>
                    </a:ext>
                  </a:extLst>
                </a:gridCol>
              </a:tblGrid>
              <a:tr h="1116637">
                <a:tc>
                  <a:txBody>
                    <a:bodyPr/>
                    <a:lstStyle/>
                    <a:p>
                      <a:r>
                        <a:rPr lang="en-US" dirty="0"/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094404"/>
                  </a:ext>
                </a:extLst>
              </a:tr>
              <a:tr h="3830489">
                <a:tc>
                  <a:txBody>
                    <a:bodyPr/>
                    <a:lstStyle/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public static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Guid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GetUserId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(this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ClaimsPrincipal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claims)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Guid.TryParse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claims.GetObjectId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(), out var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return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extension(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ClaimsPrincipal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claims)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public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Guid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GetUserId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Guid.TryParse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claims.GetObjectId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(), out var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    return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}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12305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8509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C641-C6A5-9D57-7350-428F2D50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Null-conditional assignment</a:t>
            </a:r>
            <a:br>
              <a:rPr lang="en-US" dirty="0"/>
            </a:b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A1D6C0-3ED5-84A1-48DF-699A0A90C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11</a:t>
            </a:fld>
            <a:endParaRPr lang="en-RU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204F146-43F1-A549-A24A-7CC4F23726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633135"/>
              </p:ext>
            </p:extLst>
          </p:nvPr>
        </p:nvGraphicFramePr>
        <p:xfrm>
          <a:off x="1439999" y="2566194"/>
          <a:ext cx="15408138" cy="669447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704069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  <a:gridCol w="7704069">
                  <a:extLst>
                    <a:ext uri="{9D8B030D-6E8A-4147-A177-3AD203B41FA5}">
                      <a16:colId xmlns:a16="http://schemas.microsoft.com/office/drawing/2014/main" val="1562820957"/>
                    </a:ext>
                  </a:extLst>
                </a:gridCol>
              </a:tblGrid>
              <a:tr h="1116637">
                <a:tc>
                  <a:txBody>
                    <a:bodyPr/>
                    <a:lstStyle/>
                    <a:p>
                      <a:r>
                        <a:rPr lang="en-US" dirty="0"/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094404"/>
                  </a:ext>
                </a:extLst>
              </a:tr>
              <a:tr h="3830489">
                <a:tc>
                  <a:txBody>
                    <a:bodyPr/>
                    <a:lstStyle/>
                    <a:p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sealed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class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Account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decimal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Balance {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get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;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; 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sealed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class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PaymentProccessor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void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Payout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Account? account, decimal amount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if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(account is not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null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   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account.Balance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-= amount;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 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endParaRPr 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130026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sealed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class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Account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decimal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Balance {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get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;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; 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sealed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class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PaymentProccessor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void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Payout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Account? account, decimal amount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account?.Balance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-= amount;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12305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0065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89DA4-BD0C-8FEE-ED64-47D2E7F64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080001"/>
            <a:ext cx="12817020" cy="896438"/>
          </a:xfrm>
        </p:spPr>
        <p:txBody>
          <a:bodyPr/>
          <a:lstStyle/>
          <a:p>
            <a:r>
              <a:rPr lang="en-US" dirty="0"/>
              <a:t>C# 14 – </a:t>
            </a:r>
            <a:r>
              <a:rPr lang="en-US" dirty="0" err="1"/>
              <a:t>nameof</a:t>
            </a:r>
            <a:r>
              <a:rPr lang="en-US" dirty="0"/>
              <a:t> supports unbound generic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F42794-97D4-C027-10B5-801C93650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12</a:t>
            </a:fld>
            <a:endParaRPr lang="en-RU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D5470E2-A87B-8388-8F34-CC4AD64EBD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874429"/>
              </p:ext>
            </p:extLst>
          </p:nvPr>
        </p:nvGraphicFramePr>
        <p:xfrm>
          <a:off x="1441450" y="3320859"/>
          <a:ext cx="15405100" cy="4947031"/>
        </p:xfrm>
        <a:graphic>
          <a:graphicData uri="http://schemas.openxmlformats.org/drawingml/2006/table">
            <a:tbl>
              <a:tblPr firstRow="1" bandRow="1"/>
              <a:tblGrid>
                <a:gridCol w="7702550">
                  <a:extLst>
                    <a:ext uri="{9D8B030D-6E8A-4147-A177-3AD203B41FA5}">
                      <a16:colId xmlns:a16="http://schemas.microsoft.com/office/drawing/2014/main" val="1113520668"/>
                    </a:ext>
                  </a:extLst>
                </a:gridCol>
                <a:gridCol w="7702550">
                  <a:extLst>
                    <a:ext uri="{9D8B030D-6E8A-4147-A177-3AD203B41FA5}">
                      <a16:colId xmlns:a16="http://schemas.microsoft.com/office/drawing/2014/main" val="1851745915"/>
                    </a:ext>
                  </a:extLst>
                </a:gridCol>
              </a:tblGrid>
              <a:tr h="1116584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Before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After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310973"/>
                  </a:ext>
                </a:extLst>
              </a:tr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Console.WriteLine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nameof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(List&lt;int&gt;)); // "List"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Console.WriteLine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nameof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(Dictionary&lt;int, string&gt;)); // "Dictionary"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Console.WriteLine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nameof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(List&lt;&gt;)); // "List"</a:t>
                      </a:r>
                      <a:endParaRPr lang="en-US" sz="1800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Console.WriteLine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nameof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(Dictionary&lt;,&gt;)); // "Dictionary"</a:t>
                      </a:r>
                      <a:endParaRPr lang="en-US" sz="1800" dirty="0">
                        <a:effectLst/>
                      </a:endParaRPr>
                    </a:p>
                    <a:p>
                      <a:pPr marL="0" marR="0" indent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28891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0FE8D0C-64A4-4D2E-12FC-5C459F47EF75}"/>
              </a:ext>
            </a:extLst>
          </p:cNvPr>
          <p:cNvSpPr txBox="1"/>
          <p:nvPr/>
        </p:nvSpPr>
        <p:spPr>
          <a:xfrm>
            <a:off x="1440000" y="2384999"/>
            <a:ext cx="154051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eaLnBrk="1" latinLnBrk="0" hangingPunct="1"/>
            <a:r>
              <a:rPr lang="en-US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pass an unbound generic type to </a:t>
            </a:r>
            <a:r>
              <a:rPr lang="en-US" sz="28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nameof</a:t>
            </a:r>
            <a:r>
              <a:rPr lang="en-US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Great for diagnostics, analyzers, and source generators.</a:t>
            </a:r>
            <a:endParaRPr lang="en-US" sz="2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13772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EE8-3B91-DCD2-D69D-838CF1021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the “field” keyword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ECED72-A359-EB62-DC84-B0D2EF533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13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0EA5AB-5D70-6CF1-A6C5-1B3C741E47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679564"/>
              </p:ext>
            </p:extLst>
          </p:nvPr>
        </p:nvGraphicFramePr>
        <p:xfrm>
          <a:off x="1441450" y="3320859"/>
          <a:ext cx="15405100" cy="4947031"/>
        </p:xfrm>
        <a:graphic>
          <a:graphicData uri="http://schemas.openxmlformats.org/drawingml/2006/table">
            <a:tbl>
              <a:tblPr firstRow="1" bandRow="1"/>
              <a:tblGrid>
                <a:gridCol w="7702550">
                  <a:extLst>
                    <a:ext uri="{9D8B030D-6E8A-4147-A177-3AD203B41FA5}">
                      <a16:colId xmlns:a16="http://schemas.microsoft.com/office/drawing/2014/main" val="1113520668"/>
                    </a:ext>
                  </a:extLst>
                </a:gridCol>
                <a:gridCol w="7702550">
                  <a:extLst>
                    <a:ext uri="{9D8B030D-6E8A-4147-A177-3AD203B41FA5}">
                      <a16:colId xmlns:a16="http://schemas.microsoft.com/office/drawing/2014/main" val="1851745915"/>
                    </a:ext>
                  </a:extLst>
                </a:gridCol>
              </a:tblGrid>
              <a:tr h="1116584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Before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After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310973"/>
                  </a:ext>
                </a:extLst>
              </a:tr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private string _msg;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string Message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get =&gt; _msg;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set =&gt; _msg = value;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string Message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get;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set =&gt; field = value;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288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51162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9350-2FCC-7279-CA48-63421CF01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More partial members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7E3A44-0699-B15F-042D-B391A9402A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14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53119A-B83B-9BD8-F6C0-305A8696329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2424431"/>
            <a:ext cx="15408275" cy="896438"/>
          </a:xfrm>
        </p:spPr>
        <p:txBody>
          <a:bodyPr/>
          <a:lstStyle/>
          <a:p>
            <a:r>
              <a:rPr lang="en-US" sz="2800" dirty="0"/>
              <a:t>In addition to partial methods/properties, you can define partial constructors and events with defining and implementing declarations.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EBE786C-1B45-4DA9-0E63-D7A584D05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008966"/>
              </p:ext>
            </p:extLst>
          </p:nvPr>
        </p:nvGraphicFramePr>
        <p:xfrm>
          <a:off x="1441450" y="3320859"/>
          <a:ext cx="15405100" cy="6670040"/>
        </p:xfrm>
        <a:graphic>
          <a:graphicData uri="http://schemas.openxmlformats.org/drawingml/2006/table">
            <a:tbl>
              <a:tblPr firstRow="1" bandRow="1"/>
              <a:tblGrid>
                <a:gridCol w="7702550">
                  <a:extLst>
                    <a:ext uri="{9D8B030D-6E8A-4147-A177-3AD203B41FA5}">
                      <a16:colId xmlns:a16="http://schemas.microsoft.com/office/drawing/2014/main" val="311002687"/>
                    </a:ext>
                  </a:extLst>
                </a:gridCol>
                <a:gridCol w="7702550">
                  <a:extLst>
                    <a:ext uri="{9D8B030D-6E8A-4147-A177-3AD203B41FA5}">
                      <a16:colId xmlns:a16="http://schemas.microsoft.com/office/drawing/2014/main" val="1193293088"/>
                    </a:ext>
                  </a:extLst>
                </a:gridCol>
              </a:tblGrid>
              <a:tr h="1116584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Defining declarations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Implementing declarations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583934"/>
                  </a:ext>
                </a:extLst>
              </a:tr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partial class Widget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public partial Widget(string name);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public partial event 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EventHandler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 Started;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partial class Widget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private string _name;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public partial Widget(string name) : this()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{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_name = name;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}</a:t>
                      </a:r>
                    </a:p>
                    <a:p>
                      <a:pPr rtl="0" eaLnBrk="1" latinLnBrk="0" hangingPunct="1"/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public partial event 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EventHandler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 Started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{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add { /* add logic */ }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remove { /* remove logic */ }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}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34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6334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DF4E8-56AD-D32D-99D4-FC9EEB95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8C464-82D2-EFC2-7598-827E80A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6D15C3-E709-425C-1AD8-BE7C8A405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15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AB67E-FF6E-28D2-0784-49B233C9DEE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Extension members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Null-conditional assignment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 err="1">
                <a:latin typeface="+mn-lt"/>
                <a:ea typeface="+mn-ea"/>
              </a:rPr>
              <a:t>nameof</a:t>
            </a:r>
            <a:r>
              <a:rPr lang="en-US" sz="2560" dirty="0">
                <a:latin typeface="+mn-lt"/>
                <a:ea typeface="+mn-ea"/>
              </a:rPr>
              <a:t> supports unbound generic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More implicit conversions for Span&lt;T&gt; and </a:t>
            </a:r>
            <a:r>
              <a:rPr lang="en-US" sz="2560" dirty="0" err="1">
                <a:latin typeface="+mn-lt"/>
                <a:ea typeface="+mn-ea"/>
              </a:rPr>
              <a:t>ReadOnlySpan</a:t>
            </a:r>
            <a:r>
              <a:rPr lang="en-US" sz="2560" dirty="0">
                <a:latin typeface="+mn-lt"/>
                <a:ea typeface="+mn-ea"/>
              </a:rPr>
              <a:t>&lt;T&gt;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Modifiers on simple lambda parameters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field backed properties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partial events and constructors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user-defined compound assignment operators</a:t>
            </a:r>
          </a:p>
        </p:txBody>
      </p:sp>
    </p:spTree>
    <p:extLst>
      <p:ext uri="{BB962C8B-B14F-4D97-AF65-F5344CB8AC3E}">
        <p14:creationId xmlns:p14="http://schemas.microsoft.com/office/powerpoint/2010/main" val="3547410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4DD44-6725-1BCD-E109-13AD634E1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ASP.NET CORE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B64F30-4A98-989A-CD55-CB779BBB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16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FF8DB-06EF-B64D-AA74-EBD65E8A80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Validation support in minimal APIs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Blazor — Add a Not Found page using the Blazor Router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Support for Server-Sent Events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9F5654E-CCD5-F2C0-8FBA-2CAAEECD7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84502"/>
              </p:ext>
            </p:extLst>
          </p:nvPr>
        </p:nvGraphicFramePr>
        <p:xfrm>
          <a:off x="2228760" y="4249331"/>
          <a:ext cx="13830480" cy="5577840"/>
        </p:xfrm>
        <a:graphic>
          <a:graphicData uri="http://schemas.openxmlformats.org/drawingml/2006/table">
            <a:tbl>
              <a:tblPr firstRow="1" bandRow="1"/>
              <a:tblGrid>
                <a:gridCol w="13830480">
                  <a:extLst>
                    <a:ext uri="{9D8B030D-6E8A-4147-A177-3AD203B41FA5}">
                      <a16:colId xmlns:a16="http://schemas.microsoft.com/office/drawing/2014/main" val="311002687"/>
                    </a:ext>
                  </a:extLst>
                </a:gridCol>
              </a:tblGrid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app.MapGet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C41A16"/>
                          </a:solidFill>
                          <a:effectLst/>
                          <a:latin typeface="source-code-pro"/>
                        </a:rPr>
                        <a:t>"/notifications"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, (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IRandomizerString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randomizer, CancellationToken token) =&gt;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return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TypedResults.ServerSentEvents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GetNotificationsAsync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(randomizer, token), </a:t>
                      </a:r>
                      <a:r>
                        <a:rPr lang="en-US" sz="2400" b="0" i="0" dirty="0">
                          <a:solidFill>
                            <a:srgbClr val="C41A16"/>
                          </a:solidFill>
                          <a:effectLst/>
                          <a:latin typeface="source-code-pro"/>
                        </a:rPr>
                        <a:t>"notification"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);</a:t>
                      </a:r>
                      <a:br>
                        <a:rPr lang="en-US" sz="2400" dirty="0"/>
                      </a:b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async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IAsyncEnumerable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&lt;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NotificationEvent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&gt; 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GetNotificationsAsync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</a:p>
                    <a:p>
                      <a:pPr rtl="0" eaLnBrk="1" latinLnBrk="0" hangingPunct="1"/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                </a:t>
                      </a:r>
                      <a:r>
                        <a:rPr lang="en-US" sz="2400" b="0" i="0" dirty="0" err="1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IRandomizerString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randomizerString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, [</a:t>
                      </a:r>
                      <a:r>
                        <a:rPr lang="en-US" sz="2400" b="0" i="0" dirty="0" err="1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EnumeratorCancellation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] CancellationToken </a:t>
                      </a:r>
                      <a:r>
                        <a:rPr lang="en-US" sz="2400" b="0" i="0" dirty="0" err="1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cancellationToken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while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(!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cancellationToken.IsCancellationRequested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await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Task.Delay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4000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cancellationToken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);</a:t>
                      </a:r>
                      <a:br>
                        <a:rPr lang="en-US" sz="2400" dirty="0"/>
                      </a:br>
                      <a:br>
                        <a:rPr lang="en-US" sz="2400" dirty="0"/>
                      </a:br>
                      <a:r>
                        <a:rPr lang="en-US" sz="2400" dirty="0"/>
                        <a:t>        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yield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return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new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NotificationEvent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Guid.CreateVersion7(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),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randomizerString.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Generate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());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});</a:t>
                      </a:r>
                      <a:endParaRPr lang="en-US" sz="2400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34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515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2F0A-6ED9-0D5C-3A39-2E2BBBEAE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MAUI 10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C2318B-6944-B7E6-A92C-7CDE82F855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17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A8F87D-4E4A-41DB-85AA-2B63518CD1E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en-US" sz="2800" dirty="0"/>
              <a:t>Aspire integration</a:t>
            </a:r>
          </a:p>
          <a:p>
            <a:pPr marL="342900" indent="-342900">
              <a:buFontTx/>
              <a:buChar char="-"/>
            </a:pPr>
            <a:r>
              <a:rPr lang="en-US" sz="2800" dirty="0" err="1"/>
              <a:t>CollectionView</a:t>
            </a:r>
            <a:r>
              <a:rPr lang="en-US" sz="2800" dirty="0"/>
              <a:t> and </a:t>
            </a:r>
            <a:r>
              <a:rPr lang="en-US" sz="2800" dirty="0" err="1"/>
              <a:t>CarouselView</a:t>
            </a:r>
            <a:r>
              <a:rPr lang="en-US" sz="2800" dirty="0"/>
              <a:t> new Handlers</a:t>
            </a:r>
          </a:p>
          <a:p>
            <a:pPr marL="342900" indent="-342900">
              <a:buFontTx/>
              <a:buChar char="-"/>
            </a:pPr>
            <a:r>
              <a:rPr lang="en-US" sz="2800" dirty="0"/>
              <a:t>Editor and Entry on Android support </a:t>
            </a:r>
            <a:r>
              <a:rPr lang="en-US" sz="2800" dirty="0" err="1"/>
              <a:t>SelectionChanged</a:t>
            </a:r>
            <a:r>
              <a:rPr lang="en-US" sz="2800" dirty="0"/>
              <a:t> event</a:t>
            </a:r>
          </a:p>
          <a:p>
            <a:pPr marL="342900" indent="-342900">
              <a:buFontTx/>
              <a:buChar char="-"/>
            </a:pPr>
            <a:r>
              <a:rPr lang="en-US" sz="2800" dirty="0"/>
              <a:t>Updates STS, LTS</a:t>
            </a:r>
          </a:p>
          <a:p>
            <a:pPr marL="342900" indent="-342900">
              <a:buFontTx/>
              <a:buChar char="-"/>
            </a:pPr>
            <a:r>
              <a:rPr lang="en-US" sz="2800" dirty="0" err="1"/>
              <a:t>Whats’</a:t>
            </a:r>
            <a:r>
              <a:rPr lang="en-US" sz="2800" dirty="0"/>
              <a:t> new</a:t>
            </a:r>
          </a:p>
          <a:p>
            <a:pPr marL="342900" indent="-342900">
              <a:buFontTx/>
              <a:buChar char="-"/>
            </a:pPr>
            <a:r>
              <a:rPr lang="en-US" sz="2800" dirty="0"/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33612399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556A2-AFA2-8671-9F28-062388779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3F3EC-57FF-12BD-74F3-0ABA102E2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EFCORE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E01912-2440-DC91-DFFD-03F45D2213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18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93CC1D-C0AD-F8F0-CC70-328D86BD0AB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Support </a:t>
            </a:r>
            <a:r>
              <a:rPr lang="en-US" dirty="0" err="1"/>
              <a:t>LeftJoin</a:t>
            </a:r>
            <a:r>
              <a:rPr lang="en-US" dirty="0"/>
              <a:t> and </a:t>
            </a:r>
            <a:r>
              <a:rPr lang="en-US" dirty="0" err="1"/>
              <a:t>RightJoin</a:t>
            </a:r>
            <a:r>
              <a:rPr lang="en-US" dirty="0"/>
              <a:t>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JSON type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56AFE98-8FAE-5CF4-45DC-735EADF7B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695768"/>
              </p:ext>
            </p:extLst>
          </p:nvPr>
        </p:nvGraphicFramePr>
        <p:xfrm>
          <a:off x="0" y="3960816"/>
          <a:ext cx="18288000" cy="6328664"/>
        </p:xfrm>
        <a:graphic>
          <a:graphicData uri="http://schemas.openxmlformats.org/drawingml/2006/table">
            <a:tbl>
              <a:tblPr firstRow="1" bandRow="1"/>
              <a:tblGrid>
                <a:gridCol w="9144000">
                  <a:extLst>
                    <a:ext uri="{9D8B030D-6E8A-4147-A177-3AD203B41FA5}">
                      <a16:colId xmlns:a16="http://schemas.microsoft.com/office/drawing/2014/main" val="311002687"/>
                    </a:ext>
                  </a:extLst>
                </a:gridCol>
                <a:gridCol w="9144000">
                  <a:extLst>
                    <a:ext uri="{9D8B030D-6E8A-4147-A177-3AD203B41FA5}">
                      <a16:colId xmlns:a16="http://schemas.microsoft.com/office/drawing/2014/main" val="1193293088"/>
                    </a:ext>
                  </a:extLst>
                </a:gridCol>
              </a:tblGrid>
              <a:tr h="1116584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Before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After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583934"/>
                  </a:ext>
                </a:extLst>
              </a:tr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var query = students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.</a:t>
                      </a:r>
                      <a:r>
                        <a:rPr lang="en-US" sz="2400" dirty="0" err="1">
                          <a:effectLst/>
                        </a:rPr>
                        <a:t>GroupJoin</a:t>
                      </a:r>
                      <a:r>
                        <a:rPr lang="en-US" sz="2400" dirty="0">
                          <a:effectLst/>
                        </a:rPr>
                        <a:t>(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departments,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student =&gt; </a:t>
                      </a:r>
                      <a:r>
                        <a:rPr lang="en-US" sz="2400" dirty="0" err="1">
                          <a:effectLst/>
                        </a:rPr>
                        <a:t>student.DepartmentID</a:t>
                      </a:r>
                      <a:r>
                        <a:rPr lang="en-US" sz="2400" dirty="0">
                          <a:effectLst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department =&gt; department.ID,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(student, </a:t>
                      </a:r>
                      <a:r>
                        <a:rPr lang="en-US" sz="2400" dirty="0" err="1">
                          <a:effectLst/>
                        </a:rPr>
                        <a:t>departmentList</a:t>
                      </a:r>
                      <a:r>
                        <a:rPr lang="en-US" sz="2400" dirty="0">
                          <a:effectLst/>
                        </a:rPr>
                        <a:t>)=&gt; new{ student, subgroup = </a:t>
                      </a:r>
                      <a:r>
                        <a:rPr lang="en-US" sz="2400" dirty="0" err="1">
                          <a:effectLst/>
                        </a:rPr>
                        <a:t>departmentList</a:t>
                      </a:r>
                      <a:r>
                        <a:rPr lang="en-US" sz="2400" dirty="0">
                          <a:effectLst/>
                        </a:rPr>
                        <a:t> })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.</a:t>
                      </a:r>
                      <a:r>
                        <a:rPr lang="en-US" sz="2400" dirty="0" err="1">
                          <a:effectLst/>
                        </a:rPr>
                        <a:t>SelectMany</a:t>
                      </a:r>
                      <a:r>
                        <a:rPr lang="en-US" sz="2400" dirty="0">
                          <a:effectLst/>
                        </a:rPr>
                        <a:t>(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</a:t>
                      </a:r>
                      <a:r>
                        <a:rPr lang="en-US" sz="2400" dirty="0" err="1">
                          <a:effectLst/>
                        </a:rPr>
                        <a:t>joinedSet</a:t>
                      </a:r>
                      <a:r>
                        <a:rPr lang="en-US" sz="2400" dirty="0">
                          <a:effectLst/>
                        </a:rPr>
                        <a:t> =&gt; </a:t>
                      </a:r>
                      <a:r>
                        <a:rPr lang="en-US" sz="2400" dirty="0" err="1">
                          <a:effectLst/>
                        </a:rPr>
                        <a:t>joinedSet.subgroup.DefaultIfEmpty</a:t>
                      </a:r>
                      <a:r>
                        <a:rPr lang="en-US" sz="2400" dirty="0">
                          <a:effectLst/>
                        </a:rPr>
                        <a:t>(),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(student, department) =&gt; new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{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    </a:t>
                      </a:r>
                      <a:r>
                        <a:rPr lang="en-US" sz="2400" dirty="0" err="1">
                          <a:effectLst/>
                        </a:rPr>
                        <a:t>student.student.FirstName</a:t>
                      </a:r>
                      <a:r>
                        <a:rPr lang="en-US" sz="2400" dirty="0">
                          <a:effectLst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    </a:t>
                      </a:r>
                      <a:r>
                        <a:rPr lang="en-US" sz="2400" dirty="0" err="1">
                          <a:effectLst/>
                        </a:rPr>
                        <a:t>student.student.LastName</a:t>
                      </a:r>
                      <a:r>
                        <a:rPr lang="en-US" sz="2400" dirty="0">
                          <a:effectLst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    Department = </a:t>
                      </a:r>
                      <a:r>
                        <a:rPr lang="en-US" sz="2400" dirty="0" err="1">
                          <a:effectLst/>
                        </a:rPr>
                        <a:t>department.Name</a:t>
                      </a:r>
                      <a:r>
                        <a:rPr lang="en-US" sz="2400" dirty="0">
                          <a:effectLst/>
                        </a:rPr>
                        <a:t> ?? "[NONE]"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});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var query = students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.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LeftJoin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departments,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student =&gt; 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student.DepartmentID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department =&gt; department.ID,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(student, department) =&gt; new 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{ 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student.FirstName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student.LastName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Department = 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department.Name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?? "[NONE]"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});</a:t>
                      </a:r>
                      <a:endParaRPr lang="en-US" sz="2400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34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5054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A5758-67B9-4F27-A311-26B525FAAC3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Templates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EE98-9742-4B57-B69A-F514A7004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19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7CA52A-DDB3-4092-B9E6-06298863AE7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vert="horz" lIns="0" tIns="0" rIns="0" bIns="0" rtlCol="0">
            <a:noAutofit/>
          </a:bodyPr>
          <a:lstStyle/>
          <a:p>
            <a:r>
              <a:rPr lang="en-US" sz="2800" dirty="0">
                <a:hlinkClick r:id="rId2"/>
              </a:rPr>
              <a:t>https://www.nuget.org/packages/VladislavAntonyuk.DotNetTemplates</a:t>
            </a:r>
            <a:endParaRPr lang="kk-KZ" sz="2800" dirty="0"/>
          </a:p>
          <a:p>
            <a:r>
              <a:rPr lang="en-US" sz="2800" dirty="0"/>
              <a:t> </a:t>
            </a:r>
            <a:endParaRPr lang="uk-UA" sz="2800" dirty="0"/>
          </a:p>
        </p:txBody>
      </p:sp>
      <p:pic>
        <p:nvPicPr>
          <p:cNvPr id="6" name="Picture 5" descr="A blue and white logo&#10;&#10;AI-generated content may be incorrect.">
            <a:extLst>
              <a:ext uri="{FF2B5EF4-FFF2-40B4-BE49-F238E27FC236}">
                <a16:creationId xmlns:a16="http://schemas.microsoft.com/office/drawing/2014/main" id="{988864FF-EC14-5293-B04C-9888FCFF3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763047" y="4277627"/>
            <a:ext cx="4761905" cy="17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0279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FA5C6-9867-429D-94CC-0B6418CACBF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Overview of ASPIRE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288C9C-5F93-45FA-B62C-0C4A24803F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20</a:t>
            </a:fld>
            <a:endParaRPr lang="en-R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A8FD57-8DF7-4911-8895-F6454B906E1F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828274" y="2660650"/>
            <a:ext cx="12631453" cy="626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172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DDE8D-FE3A-4C74-B334-3836D4FEDF26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Overview of ASPIRE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1F8D31-7760-405A-9BD6-F5D4A5A92B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21</a:t>
            </a:fld>
            <a:endParaRPr lang="en-R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2A8947-5950-412E-8555-076615966BB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439863" y="2910987"/>
            <a:ext cx="15408275" cy="57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684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F5D5-22EE-4F95-8D3E-17A225323818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Visual Studio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E82D5-C934-464F-805D-C2D988E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22</a:t>
            </a:fld>
            <a:endParaRPr lang="en-RU" dirty="0"/>
          </a:p>
        </p:txBody>
      </p:sp>
      <p:pic>
        <p:nvPicPr>
          <p:cNvPr id="1026" name="Picture 2" descr="vs2026">
            <a:extLst>
              <a:ext uri="{FF2B5EF4-FFF2-40B4-BE49-F238E27FC236}">
                <a16:creationId xmlns:a16="http://schemas.microsoft.com/office/drawing/2014/main" id="{6713ECA2-9617-C731-4587-DEF7F3DD3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000" y="2819400"/>
            <a:ext cx="9391650" cy="464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9CA544-8E37-B107-A128-908E0CDC869C}"/>
              </a:ext>
            </a:extLst>
          </p:cNvPr>
          <p:cNvSpPr txBox="1"/>
          <p:nvPr/>
        </p:nvSpPr>
        <p:spPr>
          <a:xfrm>
            <a:off x="11183815" y="2819400"/>
            <a:ext cx="5664322" cy="4648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AI built into the IDE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Insiders Channel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Performance improvements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UI refresh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Editor and productivity updates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Copilot context actions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DA_FuturaPT Book" panose="020B0502020204020303" pitchFamily="34" charset="0"/>
                <a:ea typeface="DA_FuturaPT Book" panose="020B0502020204020303" pitchFamily="34" charset="0"/>
              </a:rPr>
              <a:t>BenchmarkDotNet</a:t>
            </a: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 template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Hot Reload improvements for Razor</a:t>
            </a:r>
          </a:p>
        </p:txBody>
      </p:sp>
    </p:spTree>
    <p:extLst>
      <p:ext uri="{BB962C8B-B14F-4D97-AF65-F5344CB8AC3E}">
        <p14:creationId xmlns:p14="http://schemas.microsoft.com/office/powerpoint/2010/main" val="1725489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F5D5-22EE-4F95-8D3E-17A225323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080001"/>
            <a:ext cx="13304700" cy="896438"/>
          </a:xfrm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Visual Studio 2026 – </a:t>
            </a:r>
            <a:r>
              <a:rPr lang="en-US" sz="5400" dirty="0"/>
              <a:t>GitHub Copilot Improvements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E82D5-C934-464F-805D-C2D988E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23</a:t>
            </a:fld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4196DA-C7EC-B8FE-9828-9E35523E41F2}"/>
              </a:ext>
            </a:extLst>
          </p:cNvPr>
          <p:cNvSpPr txBox="1"/>
          <p:nvPr/>
        </p:nvSpPr>
        <p:spPr>
          <a:xfrm>
            <a:off x="1439999" y="2603574"/>
            <a:ext cx="15408137" cy="3918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Bring your own model to chat (custom LLMs via API keys).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Adaptive paste: Copilot adjusts pasted code to fit context.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Copilot actions in context menu (explain, optimize, comment, test, add to chat).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“Did you mean?” Copilot-powered search suggestions.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Mermaid chart rendering in Markdown editor and Copilot Chat.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Copilot URL context: paste a URL in chat to pull in page content.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Better Copilot responses: improved code search, external symbol awareness, and line number accuracy.</a:t>
            </a:r>
          </a:p>
        </p:txBody>
      </p:sp>
    </p:spTree>
    <p:extLst>
      <p:ext uri="{BB962C8B-B14F-4D97-AF65-F5344CB8AC3E}">
        <p14:creationId xmlns:p14="http://schemas.microsoft.com/office/powerpoint/2010/main" val="29422218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F5D5-22EE-4F95-8D3E-17A225323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080001"/>
            <a:ext cx="13304700" cy="896438"/>
          </a:xfrm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Visual Studio 2026 – IDE &amp; UI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E82D5-C934-464F-805D-C2D988E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24</a:t>
            </a:fld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4196DA-C7EC-B8FE-9828-9E35523E41F2}"/>
              </a:ext>
            </a:extLst>
          </p:cNvPr>
          <p:cNvSpPr txBox="1"/>
          <p:nvPr/>
        </p:nvSpPr>
        <p:spPr>
          <a:xfrm>
            <a:off x="1439999" y="2603574"/>
            <a:ext cx="15408137" cy="170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Code coverage now available in Community and Professional editions.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New look and feel: Fluent UI design, new themes, and iconography.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Modern settings experience: streamlined, user-friendly settings UI.</a:t>
            </a:r>
          </a:p>
        </p:txBody>
      </p:sp>
    </p:spTree>
    <p:extLst>
      <p:ext uri="{BB962C8B-B14F-4D97-AF65-F5344CB8AC3E}">
        <p14:creationId xmlns:p14="http://schemas.microsoft.com/office/powerpoint/2010/main" val="18310029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F5D5-22EE-4F95-8D3E-17A225323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080001"/>
            <a:ext cx="13304700" cy="896438"/>
          </a:xfrm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Visual Studio 2026 – Debugging &amp; Diagnostics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E82D5-C934-464F-805D-C2D988E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25</a:t>
            </a:fld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4196DA-C7EC-B8FE-9828-9E35523E41F2}"/>
              </a:ext>
            </a:extLst>
          </p:cNvPr>
          <p:cNvSpPr txBox="1"/>
          <p:nvPr/>
        </p:nvSpPr>
        <p:spPr>
          <a:xfrm>
            <a:off x="1439999" y="2603574"/>
            <a:ext cx="15408137" cy="3918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DA_FuturaPT Book" panose="020B0502020204020303" pitchFamily="34" charset="0"/>
                <a:ea typeface="DA_FuturaPT Book" panose="020B0502020204020303" pitchFamily="34" charset="0"/>
              </a:rPr>
              <a:t>BenchmarkDotNet</a:t>
            </a: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 project template with built-in profiling and Copilot insights.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DA_FuturaPT Book" panose="020B0502020204020303" pitchFamily="34" charset="0"/>
                <a:ea typeface="DA_FuturaPT Book" panose="020B0502020204020303" pitchFamily="34" charset="0"/>
              </a:rPr>
              <a:t>CMake</a:t>
            </a: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 diagnostics: native support for CPU, events, and file IO tools (with Copilot insights).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.NET Allocation Tool: Copilot assistance for zero-length array allocations.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Inline post-return values with Copilot insights in the debugger.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Search in Text Visualizer (</a:t>
            </a:r>
            <a:r>
              <a:rPr lang="en-US" sz="2400" dirty="0" err="1">
                <a:latin typeface="DA_FuturaPT Book" panose="020B0502020204020303" pitchFamily="34" charset="0"/>
                <a:ea typeface="DA_FuturaPT Book" panose="020B0502020204020303" pitchFamily="34" charset="0"/>
              </a:rPr>
              <a:t>Ctrl+F</a:t>
            </a: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 in string visualizer).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New Profiler launch experience with Copilot recommendations.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Profiler Copilot Agent: AI-driven performance analysis and suggestions.</a:t>
            </a:r>
          </a:p>
        </p:txBody>
      </p:sp>
    </p:spTree>
    <p:extLst>
      <p:ext uri="{BB962C8B-B14F-4D97-AF65-F5344CB8AC3E}">
        <p14:creationId xmlns:p14="http://schemas.microsoft.com/office/powerpoint/2010/main" val="33267747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18D5D-7A18-233C-C884-152D548F3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Profiler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71640B-99AA-245C-F814-14DFAB689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26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7559A7-7AD2-9C3F-160F-491C221E62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An AI-assisted profiler that goes beyond showing performance bottlenecks — it uses real traces and benchmarks and can suggest prioritized fixes. Also supports natural-language queries to guide profiling.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18AC11-0890-9D4A-6065-2893429E2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631" y="3681789"/>
            <a:ext cx="9424737" cy="628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4294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7D8F7-5C9D-4C49-A2FE-8F733C1FD99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Artificial Intelligence and .NET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8F052-2A9F-4604-BA37-B1DFECBEF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27</a:t>
            </a:fld>
            <a:endParaRPr lang="en-R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8ED85B-1582-4C3E-9A5B-BF1150DEBF83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145263" y="2660650"/>
            <a:ext cx="11997474" cy="626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95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15B7B-0E6E-4DBC-BBEE-79FB056E4D42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Artificial Intelligence and .NET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8CBD99-138C-4C85-9C6C-780986303C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28</a:t>
            </a:fld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CB9548-3291-4F3E-89F8-FB022FFF7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68" y="2946562"/>
            <a:ext cx="9696809" cy="530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382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0C54B-6113-A84C-AAFF-626229C0F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E293DEDA-2A0F-E5DD-BBB7-F1549C4E5BA5}"/>
              </a:ext>
            </a:extLst>
          </p:cNvPr>
          <p:cNvSpPr/>
          <p:nvPr/>
        </p:nvSpPr>
        <p:spPr>
          <a:xfrm>
            <a:off x="1440000" y="2808090"/>
            <a:ext cx="12127967" cy="37705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1D34EADA-07DD-9A69-637E-BE9BACD8CC0B}"/>
              </a:ext>
            </a:extLst>
          </p:cNvPr>
          <p:cNvSpPr/>
          <p:nvPr/>
        </p:nvSpPr>
        <p:spPr>
          <a:xfrm>
            <a:off x="14824472" y="3979894"/>
            <a:ext cx="2243139" cy="45735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82A021-9E95-513D-4157-2CF720A1AD32}"/>
              </a:ext>
            </a:extLst>
          </p:cNvPr>
          <p:cNvSpPr/>
          <p:nvPr/>
        </p:nvSpPr>
        <p:spPr>
          <a:xfrm>
            <a:off x="10516790" y="6891609"/>
            <a:ext cx="2609850" cy="15224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A79100-A71A-E7EC-7B5B-9379496F61F9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MCP, AI, .NET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C0D3D-DA36-2D5F-4236-E18D0B880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29</a:t>
            </a:fld>
            <a:endParaRPr lang="en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F76DC2-AF39-D49A-D002-0E5D685AEA2E}"/>
              </a:ext>
            </a:extLst>
          </p:cNvPr>
          <p:cNvSpPr/>
          <p:nvPr/>
        </p:nvSpPr>
        <p:spPr>
          <a:xfrm>
            <a:off x="1555819" y="4725987"/>
            <a:ext cx="2484300" cy="912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ctr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Host</a:t>
            </a:r>
          </a:p>
          <a:p>
            <a:pPr algn="ctr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(VS Code, IDEs)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51AD96-7A96-DAFA-0505-4631B9DF45C4}"/>
              </a:ext>
            </a:extLst>
          </p:cNvPr>
          <p:cNvSpPr/>
          <p:nvPr/>
        </p:nvSpPr>
        <p:spPr>
          <a:xfrm>
            <a:off x="4457700" y="4725987"/>
            <a:ext cx="2686050" cy="912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ctr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Client</a:t>
            </a:r>
          </a:p>
          <a:p>
            <a:pPr algn="ctr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(GitHub Copilot)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D62CF7-3C11-6AAD-08C3-0B3A2B5014F6}"/>
              </a:ext>
            </a:extLst>
          </p:cNvPr>
          <p:cNvSpPr/>
          <p:nvPr/>
        </p:nvSpPr>
        <p:spPr>
          <a:xfrm>
            <a:off x="9089230" y="4879975"/>
            <a:ext cx="2195514" cy="60642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MCP Server B</a:t>
            </a:r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3EDBF946-6FD1-E4EA-60BD-6EC52E9C0B67}"/>
              </a:ext>
            </a:extLst>
          </p:cNvPr>
          <p:cNvSpPr/>
          <p:nvPr/>
        </p:nvSpPr>
        <p:spPr>
          <a:xfrm>
            <a:off x="11234738" y="3131742"/>
            <a:ext cx="1681163" cy="1371600"/>
          </a:xfrm>
          <a:prstGeom prst="flowChartMagneticDisk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B6704CBB-15FB-5B51-D5AF-BA5A6C250238}"/>
              </a:ext>
            </a:extLst>
          </p:cNvPr>
          <p:cNvSpPr/>
          <p:nvPr/>
        </p:nvSpPr>
        <p:spPr>
          <a:xfrm>
            <a:off x="15105459" y="4512472"/>
            <a:ext cx="1681163" cy="1371600"/>
          </a:xfrm>
          <a:prstGeom prst="flowChartMagneticDisk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3C89D9AC-7662-DCE3-4170-4BD966BFE5E6}"/>
              </a:ext>
            </a:extLst>
          </p:cNvPr>
          <p:cNvSpPr/>
          <p:nvPr/>
        </p:nvSpPr>
        <p:spPr>
          <a:xfrm>
            <a:off x="15459473" y="6957219"/>
            <a:ext cx="1140619" cy="1371600"/>
          </a:xfrm>
          <a:prstGeom prst="flowChartMagneticDisk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C276F44-AFBC-9B50-FFDB-3FE28C4651F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040119" y="5182394"/>
            <a:ext cx="417581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8DE731-486A-1C4D-D2CF-6C2EB65D9E4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143750" y="5182394"/>
            <a:ext cx="1945480" cy="79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98F4529-9214-A2AB-96B2-5783A2820CF0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>
            <a:off x="11284744" y="5183188"/>
            <a:ext cx="3820715" cy="1508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667333F-53DF-E2BD-56AB-741300744429}"/>
              </a:ext>
            </a:extLst>
          </p:cNvPr>
          <p:cNvCxnSpPr>
            <a:cxnSpLocks/>
            <a:stCxn id="37" idx="3"/>
            <a:endCxn id="17" idx="2"/>
          </p:cNvCxnSpPr>
          <p:nvPr/>
        </p:nvCxnSpPr>
        <p:spPr>
          <a:xfrm flipV="1">
            <a:off x="12956381" y="7643019"/>
            <a:ext cx="2503092" cy="979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5A6D247-52D6-6911-D9DD-9FAE9B0F1DD6}"/>
              </a:ext>
            </a:extLst>
          </p:cNvPr>
          <p:cNvSpPr/>
          <p:nvPr/>
        </p:nvSpPr>
        <p:spPr>
          <a:xfrm>
            <a:off x="10713242" y="7349602"/>
            <a:ext cx="2243139" cy="60642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Remote Server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BB8AA9E-65B4-0565-9EB2-C6A10E7D9D63}"/>
              </a:ext>
            </a:extLst>
          </p:cNvPr>
          <p:cNvSpPr/>
          <p:nvPr/>
        </p:nvSpPr>
        <p:spPr>
          <a:xfrm>
            <a:off x="8110537" y="3514329"/>
            <a:ext cx="2195514" cy="60642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MCP Server A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5F5F8E2-B1AB-0025-1C74-BD18CF484A04}"/>
              </a:ext>
            </a:extLst>
          </p:cNvPr>
          <p:cNvCxnSpPr>
            <a:cxnSpLocks/>
            <a:stCxn id="49" idx="3"/>
            <a:endCxn id="13" idx="2"/>
          </p:cNvCxnSpPr>
          <p:nvPr/>
        </p:nvCxnSpPr>
        <p:spPr>
          <a:xfrm>
            <a:off x="10306051" y="3817542"/>
            <a:ext cx="928687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E32E4C11-9749-37F9-563B-CEA2D341EA68}"/>
              </a:ext>
            </a:extLst>
          </p:cNvPr>
          <p:cNvSpPr txBox="1"/>
          <p:nvPr/>
        </p:nvSpPr>
        <p:spPr>
          <a:xfrm>
            <a:off x="13444737" y="7490294"/>
            <a:ext cx="1209476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Web APIs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35E933C-E9AC-056D-5F0F-660C83B5603B}"/>
              </a:ext>
            </a:extLst>
          </p:cNvPr>
          <p:cNvSpPr txBox="1"/>
          <p:nvPr/>
        </p:nvSpPr>
        <p:spPr>
          <a:xfrm>
            <a:off x="12245379" y="5017890"/>
            <a:ext cx="1170782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Web APIs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F80357-45B2-4F7F-61AA-97D6CC3CA0F7}"/>
              </a:ext>
            </a:extLst>
          </p:cNvPr>
          <p:cNvSpPr txBox="1"/>
          <p:nvPr/>
        </p:nvSpPr>
        <p:spPr>
          <a:xfrm>
            <a:off x="7435612" y="5017890"/>
            <a:ext cx="1424146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MCP Protocol</a:t>
            </a:r>
          </a:p>
        </p:txBody>
      </p:sp>
      <p:cxnSp>
        <p:nvCxnSpPr>
          <p:cNvPr id="1027" name="Connector: Elbow 1026">
            <a:extLst>
              <a:ext uri="{FF2B5EF4-FFF2-40B4-BE49-F238E27FC236}">
                <a16:creationId xmlns:a16="http://schemas.microsoft.com/office/drawing/2014/main" id="{1D25FB08-30BB-FD60-69C6-4DCDE46A0C6F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8184816" y="3254709"/>
            <a:ext cx="1252809" cy="602099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47B7BD-B703-C899-6476-9CB3137B4559}"/>
              </a:ext>
            </a:extLst>
          </p:cNvPr>
          <p:cNvSpPr txBox="1"/>
          <p:nvPr/>
        </p:nvSpPr>
        <p:spPr>
          <a:xfrm>
            <a:off x="9089230" y="6103936"/>
            <a:ext cx="1959770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MCP Protocol (SSE)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D0538B36-1F29-A095-6F33-01B8222FC693}"/>
              </a:ext>
            </a:extLst>
          </p:cNvPr>
          <p:cNvSpPr txBox="1"/>
          <p:nvPr/>
        </p:nvSpPr>
        <p:spPr>
          <a:xfrm>
            <a:off x="15363827" y="7521840"/>
            <a:ext cx="1331912" cy="74790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000" dirty="0"/>
              <a:t>Remote </a:t>
            </a:r>
          </a:p>
          <a:p>
            <a:pPr algn="ctr"/>
            <a:r>
              <a:rPr lang="en-US" sz="2000" dirty="0"/>
              <a:t>Service C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B08C1E4C-94B7-0516-7532-D7CEBBBF4882}"/>
              </a:ext>
            </a:extLst>
          </p:cNvPr>
          <p:cNvSpPr txBox="1"/>
          <p:nvPr/>
        </p:nvSpPr>
        <p:spPr>
          <a:xfrm>
            <a:off x="15280084" y="5035751"/>
            <a:ext cx="1331912" cy="74790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000" dirty="0"/>
              <a:t>Local</a:t>
            </a:r>
          </a:p>
          <a:p>
            <a:pPr algn="ctr"/>
            <a:r>
              <a:rPr lang="en-US" sz="2000" dirty="0"/>
              <a:t>Data Source B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1F754B0-7863-B95D-4DDC-B11B32780B08}"/>
              </a:ext>
            </a:extLst>
          </p:cNvPr>
          <p:cNvSpPr txBox="1"/>
          <p:nvPr/>
        </p:nvSpPr>
        <p:spPr>
          <a:xfrm>
            <a:off x="11409363" y="3675168"/>
            <a:ext cx="1331912" cy="74790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000" dirty="0"/>
              <a:t>Local</a:t>
            </a:r>
          </a:p>
          <a:p>
            <a:pPr algn="ctr"/>
            <a:r>
              <a:rPr lang="en-US" sz="2000" dirty="0"/>
              <a:t>Data Source A</a:t>
            </a:r>
          </a:p>
        </p:txBody>
      </p:sp>
      <p:cxnSp>
        <p:nvCxnSpPr>
          <p:cNvPr id="1034" name="Connector: Elbow 1033">
            <a:extLst>
              <a:ext uri="{FF2B5EF4-FFF2-40B4-BE49-F238E27FC236}">
                <a16:creationId xmlns:a16="http://schemas.microsoft.com/office/drawing/2014/main" id="{84232F01-E189-16CC-94A3-8BD39D0C6D03}"/>
              </a:ext>
            </a:extLst>
          </p:cNvPr>
          <p:cNvCxnSpPr>
            <a:cxnSpLocks/>
            <a:stCxn id="6" idx="0"/>
            <a:endCxn id="49" idx="1"/>
          </p:cNvCxnSpPr>
          <p:nvPr/>
        </p:nvCxnSpPr>
        <p:spPr>
          <a:xfrm rot="5400000" flipH="1" flipV="1">
            <a:off x="6501409" y="3116859"/>
            <a:ext cx="908445" cy="2309812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71211C4-C12F-5611-999D-17CF3941A581}"/>
              </a:ext>
            </a:extLst>
          </p:cNvPr>
          <p:cNvSpPr txBox="1"/>
          <p:nvPr/>
        </p:nvSpPr>
        <p:spPr>
          <a:xfrm>
            <a:off x="6300708" y="3657520"/>
            <a:ext cx="1424146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MCP Protocol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6CF4C0E4-07E4-0ADA-A988-3AA2F9D0EABF}"/>
              </a:ext>
            </a:extLst>
          </p:cNvPr>
          <p:cNvSpPr txBox="1"/>
          <p:nvPr/>
        </p:nvSpPr>
        <p:spPr>
          <a:xfrm>
            <a:off x="11135520" y="6891609"/>
            <a:ext cx="1331912" cy="32311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400" dirty="0">
                <a:latin typeface="DA_FuturaPT Demi" panose="020B0702020204020303" pitchFamily="34" charset="0"/>
              </a:rPr>
              <a:t>Remote</a:t>
            </a: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D9EFCADF-7E55-7559-60E4-8FD621CC2915}"/>
              </a:ext>
            </a:extLst>
          </p:cNvPr>
          <p:cNvSpPr txBox="1"/>
          <p:nvPr/>
        </p:nvSpPr>
        <p:spPr>
          <a:xfrm>
            <a:off x="6732656" y="2788422"/>
            <a:ext cx="1331912" cy="32311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400" dirty="0">
                <a:latin typeface="DA_FuturaPT Demi" panose="020B0702020204020303" pitchFamily="34" charset="0"/>
              </a:rPr>
              <a:t>Your computer</a:t>
            </a: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AA2AF4B9-13F0-BD2D-01D5-AC5FEC79E48F}"/>
              </a:ext>
            </a:extLst>
          </p:cNvPr>
          <p:cNvSpPr txBox="1"/>
          <p:nvPr/>
        </p:nvSpPr>
        <p:spPr>
          <a:xfrm>
            <a:off x="15239206" y="4012550"/>
            <a:ext cx="1331912" cy="32311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400" dirty="0">
                <a:latin typeface="DA_FuturaPT Demi" panose="020B0702020204020303" pitchFamily="34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38421369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B3FAF-DA04-373B-5C74-BBE4A9BF0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53B3-FB9D-D033-CE59-9674DD1170B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https://learn.microsoft.com/en-us/dotnet/ai/evaluation/responsible-ai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B4CCF2-3C0F-F16B-F735-E9064F9F6C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30</a:t>
            </a:fld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C55F5-F25D-145E-E287-A6477CBC4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68" y="2946562"/>
            <a:ext cx="9696809" cy="530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0995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2F0A-6ED9-0D5C-3A39-2E2BBBEAE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SignalR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C2318B-6944-B7E6-A92C-7CDE82F855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31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A8F87D-4E4A-41DB-85AA-2B63518CD1E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en-US" dirty="0"/>
              <a:t>Updates STS, LTS</a:t>
            </a:r>
          </a:p>
          <a:p>
            <a:pPr marL="342900" indent="-342900">
              <a:buFontTx/>
              <a:buChar char="-"/>
            </a:pPr>
            <a:r>
              <a:rPr lang="en-US" dirty="0" err="1"/>
              <a:t>Whats’</a:t>
            </a:r>
            <a:r>
              <a:rPr lang="en-US" dirty="0"/>
              <a:t> new</a:t>
            </a:r>
          </a:p>
          <a:p>
            <a:pPr marL="342900" indent="-342900">
              <a:buFontTx/>
              <a:buChar char="-"/>
            </a:pPr>
            <a:r>
              <a:rPr lang="en-US" dirty="0"/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16779558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C2288-325D-430A-A275-E91A43D446D9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Links and Samples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00E9C6-7B92-4D5F-A5EE-31F69C56C5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32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D18E1A-C40A-4619-A34E-ECF1CAC989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vert="horz" lIns="0" tIns="0" rIns="0" bIns="0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 9 Overview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.NET Aspire docs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.NET AI Overview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95296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THINKCELLPRESENTATIONDONOTDELETE" val="&lt;?xml version=&quot;1.0&quot; encoding=&quot;UTF-16&quot; standalone=&quot;yes&quot;?&gt;&lt;root reqver=&quot;27037&quot;&gt;&lt;version val=&quot;3284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 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8&quot;&gt;&lt;elem m_fUsage=&quot;1.54688769900000022695E+00&quot;&gt;&lt;m_msothmcolidx val=&quot;0&quot;/&gt;&lt;m_rgb r=&quot;6E&quot; g=&quot;E6&quot; b=&quot;E3&quot;/&gt;&lt;/elem&gt;&lt;elem m_fUsage=&quot;1.53144100000000005224E+00&quot;&gt;&lt;m_msothmcolidx val=&quot;0&quot;/&gt;&lt;m_rgb r=&quot;C0&quot; g=&quot;BF&quot; b=&quot;C2&quot;/&gt;&lt;/elem&gt;&lt;elem m_fUsage=&quot;1.37829690000000004702E+00&quot;&gt;&lt;m_msothmcolidx val=&quot;0&quot;/&gt;&lt;m_rgb r=&quot;66&quot; g=&quot;C7&quot; b=&quot;FF&quot;/&gt;&lt;/elem&gt;&lt;elem m_fUsage=&quot;1.00477844009999994768E+00&quot;&gt;&lt;m_msothmcolidx val=&quot;0&quot;/&gt;&lt;m_rgb r=&quot;EA&quot; g=&quot;57&quot; b=&quot;9A&quot;/&gt;&lt;/elem&gt;&lt;elem m_fUsage=&quot;9.04300596090000019522E-01&quot;&gt;&lt;m_msothmcolidx val=&quot;0&quot;/&gt;&lt;m_rgb r=&quot;00&quot; g=&quot;AE&quot; b=&quot;AA&quot;/&gt;&lt;/elem&gt;&lt;elem m_fUsage=&quot;8.10000000000000053291E-01&quot;&gt;&lt;m_msothmcolidx val=&quot;0&quot;/&gt;&lt;m_rgb r=&quot;F7&quot; g=&quot;CB&quot; b=&quot;E0&quot;/&gt;&lt;/elem&gt;&lt;elem m_fUsage=&quot;2.82429536481000165171E-01&quot;&gt;&lt;m_msothmcolidx val=&quot;0&quot;/&gt;&lt;m_rgb r=&quot;FB&quot; g=&quot;58&quot; b=&quot;88&quot;/&gt;&lt;/elem&gt;&lt;elem m_fUsage=&quot;2.54186582832900132001E-01&quot;&gt;&lt;m_msothmcolidx val=&quot;0&quot;/&gt;&lt;m_rgb r=&quot;75&quot; g=&quot;D4&quot; b=&quot;94&quot;/&gt;&lt;/elem&gt;&lt;/m_vecMRU&gt;&lt;/m_mruColor&gt;&lt;m_eweekdayFirstOfWeek val=&quot;2&quot;/&gt;&lt;m_eweekdayFirstOfWorkweek val=&quot;2&quot;/&gt;&lt;m_eweekdayFirstOfWeekend val=&quot;7&quot;/&gt;&lt;/CPresentation&gt;&lt;/root&gt;"/>
</p:tagLst>
</file>

<file path=ppt/theme/theme1.xml><?xml version="1.0" encoding="utf-8"?>
<a:theme xmlns:a="http://schemas.openxmlformats.org/drawingml/2006/main" name="Corporate-2022">
  <a:themeElements>
    <a:clrScheme name="DataArt Presentations">
      <a:dk1>
        <a:srgbClr val="333332"/>
      </a:dk1>
      <a:lt1>
        <a:srgbClr val="FFFFFF"/>
      </a:lt1>
      <a:dk2>
        <a:srgbClr val="333332"/>
      </a:dk2>
      <a:lt2>
        <a:srgbClr val="FFDE55"/>
      </a:lt2>
      <a:accent1>
        <a:srgbClr val="53CFF8"/>
      </a:accent1>
      <a:accent2>
        <a:srgbClr val="2BC6BF"/>
      </a:accent2>
      <a:accent3>
        <a:srgbClr val="F0503C"/>
      </a:accent3>
      <a:accent4>
        <a:srgbClr val="70529F"/>
      </a:accent4>
      <a:accent5>
        <a:srgbClr val="FFB133"/>
      </a:accent5>
      <a:accent6>
        <a:srgbClr val="284086"/>
      </a:accent6>
      <a:hlink>
        <a:srgbClr val="53CFF8"/>
      </a:hlink>
      <a:folHlink>
        <a:srgbClr val="70529F"/>
      </a:folHlink>
    </a:clrScheme>
    <a:fontScheme name="Corporate-2021">
      <a:majorFont>
        <a:latin typeface="DA_FuturaPT Light"/>
        <a:ea typeface=""/>
        <a:cs typeface=""/>
      </a:majorFont>
      <a:minorFont>
        <a:latin typeface="DA_FuturaPT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lIns="288000" tIns="288000" rIns="216000" bIns="288000" rtlCol="0" anchor="ctr"/>
      <a:lstStyle>
        <a:defPPr algn="l">
          <a:spcAft>
            <a:spcPts val="0"/>
          </a:spcAft>
          <a:defRPr sz="2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algn="l">
          <a:spcAft>
            <a:spcPts val="1200"/>
          </a:spcAft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futura_updated" id="{8D1B57A3-C1FD-544C-9FDC-1AF023D039E4}" vid="{E9CF16DA-DE47-3946-8885-9F3146B22AB5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4C53B6EC75545445A23B6CAF1AE71915" ma:contentTypeVersion="14" ma:contentTypeDescription="Создание документа." ma:contentTypeScope="" ma:versionID="e634fad02f95a413cda2dd8948ac0b56">
  <xsd:schema xmlns:xsd="http://www.w3.org/2001/XMLSchema" xmlns:xs="http://www.w3.org/2001/XMLSchema" xmlns:p="http://schemas.microsoft.com/office/2006/metadata/properties" xmlns:ns2="0e59743f-d6a9-4734-8e8b-91b7328f980d" xmlns:ns3="17b44ce8-d3af-4cc2-85db-89385f1ecc30" targetNamespace="http://schemas.microsoft.com/office/2006/metadata/properties" ma:root="true" ma:fieldsID="1ec1dee5b1aa0753e113a2d70166e310" ns2:_="" ns3:_="">
    <xsd:import namespace="0e59743f-d6a9-4734-8e8b-91b7328f980d"/>
    <xsd:import namespace="17b44ce8-d3af-4cc2-85db-89385f1ecc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DSGN_x002d_19090_x0418__x043a__x043e__x043d__x043a__x0430__x0434__x043b__x044f__x0417__x0430__x0440__x0430__x0431__x0430__x0442__x044b__x0432__x0430__x0439__x0442__x0435__x0441_Ozon_x0432__x043a__x0430__x0442__x0430__x043b__x043e__x0433__x0435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59743f-d6a9-4734-8e8b-91b7328f980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DSGN_x002d_19090_x0418__x043a__x043e__x043d__x043a__x0430__x0434__x043b__x044f__x0417__x0430__x0440__x0430__x0431__x0430__x0442__x044b__x0432__x0430__x0439__x0442__x0435__x0441_Ozon_x0432__x043a__x0430__x0442__x0430__x043b__x043e__x0433__x0435_" ma:index="21" nillable="true" ma:displayName="DSGN-19090 Иконка для Зарабатывайте с Ozon в каталоге" ma:format="Dropdown" ma:internalName="DSGN_x002d_19090_x0418__x043a__x043e__x043d__x043a__x0430__x0434__x043b__x044f__x0417__x0430__x0440__x0430__x0431__x0430__x0442__x044b__x0432__x0430__x0439__x0442__x0435__x0441_Ozon_x0432__x043a__x0430__x0442__x0430__x043b__x043e__x0433__x0435_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b44ce8-d3af-4cc2-85db-89385f1ecc30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SGN_x002d_19090_x0418__x043a__x043e__x043d__x043a__x0430__x0434__x043b__x044f__x0417__x0430__x0440__x0430__x0431__x0430__x0442__x044b__x0432__x0430__x0439__x0442__x0435__x0441_Ozon_x0432__x043a__x0430__x0442__x0430__x043b__x043e__x0433__x0435_ xmlns="0e59743f-d6a9-4734-8e8b-91b7328f980d" xsi:nil="true"/>
  </documentManagement>
</p:properties>
</file>

<file path=customXml/itemProps1.xml><?xml version="1.0" encoding="utf-8"?>
<ds:datastoreItem xmlns:ds="http://schemas.openxmlformats.org/officeDocument/2006/customXml" ds:itemID="{BF72DD95-5EE4-4211-9122-2A9AB6CB6B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59743f-d6a9-4734-8e8b-91b7328f980d"/>
    <ds:schemaRef ds:uri="17b44ce8-d3af-4cc2-85db-89385f1ecc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FA1D67-D5D5-4B5F-AA3B-489EC90F50F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50A2251-5D7E-48BD-811C-1895383C38B9}">
  <ds:schemaRefs>
    <ds:schemaRef ds:uri="http://schemas.microsoft.com/office/2006/documentManagement/types"/>
    <ds:schemaRef ds:uri="0e59743f-d6a9-4734-8e8b-91b7328f980d"/>
    <ds:schemaRef ds:uri="17b44ce8-d3af-4cc2-85db-89385f1ecc30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DataArt-PowerPoint-Template-Futura-2023</Template>
  <TotalTime>3261</TotalTime>
  <Words>1865</Words>
  <Application>Microsoft Office PowerPoint</Application>
  <PresentationFormat>Custom</PresentationFormat>
  <Paragraphs>300</Paragraphs>
  <Slides>32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-apple-system</vt:lpstr>
      <vt:lpstr>Arial</vt:lpstr>
      <vt:lpstr>Calibri</vt:lpstr>
      <vt:lpstr>DA_FuturaPT Book</vt:lpstr>
      <vt:lpstr>DA_FuturaPT Demi</vt:lpstr>
      <vt:lpstr>DA_FuturaPT Light</vt:lpstr>
      <vt:lpstr>DA_FuturaPT Medium</vt:lpstr>
      <vt:lpstr>Segoe UI</vt:lpstr>
      <vt:lpstr>source-code-pro</vt:lpstr>
      <vt:lpstr>Corporate-2022</vt:lpstr>
      <vt:lpstr>PowerPoint Presentation</vt:lpstr>
      <vt:lpstr>PowerPoint Presentation</vt:lpstr>
      <vt:lpstr>AI-Friendly Calendar!</vt:lpstr>
      <vt:lpstr>.NET 10</vt:lpstr>
      <vt:lpstr>.NET 10 – file base app</vt:lpstr>
      <vt:lpstr>.NET 10</vt:lpstr>
      <vt:lpstr>C# 14</vt:lpstr>
      <vt:lpstr>C# 14 – Extension members</vt:lpstr>
      <vt:lpstr>C# 14 – Extension members</vt:lpstr>
      <vt:lpstr>C# 14 – Extension members</vt:lpstr>
      <vt:lpstr>C# 14 – Null-conditional assignment </vt:lpstr>
      <vt:lpstr>C# 14 – nameof supports unbound generic types</vt:lpstr>
      <vt:lpstr>C# 14 – the “field” keyword</vt:lpstr>
      <vt:lpstr>C# 14 – More partial members</vt:lpstr>
      <vt:lpstr>C# 14</vt:lpstr>
      <vt:lpstr>ASP.NET CORE</vt:lpstr>
      <vt:lpstr>.NET MAUI 10</vt:lpstr>
      <vt:lpstr>EFCORE</vt:lpstr>
      <vt:lpstr>Templates</vt:lpstr>
      <vt:lpstr>Overview of ASPIRE</vt:lpstr>
      <vt:lpstr>Overview of ASPIRE</vt:lpstr>
      <vt:lpstr>Visual Studio 2026</vt:lpstr>
      <vt:lpstr>Visual Studio 2026 – GitHub Copilot Improvements</vt:lpstr>
      <vt:lpstr>Visual Studio 2026 – IDE &amp; UI</vt:lpstr>
      <vt:lpstr>Visual Studio 2026 – Debugging &amp; Diagnostics</vt:lpstr>
      <vt:lpstr>AI Profiler</vt:lpstr>
      <vt:lpstr>Artificial Intelligence and .NET</vt:lpstr>
      <vt:lpstr>Artificial Intelligence and .NET</vt:lpstr>
      <vt:lpstr>MCP, AI, .NET</vt:lpstr>
      <vt:lpstr>https://learn.microsoft.com/en-us/dotnet/ai/evaluation/responsible-ai</vt:lpstr>
      <vt:lpstr>SignalR</vt:lpstr>
      <vt:lpstr>Links and Samples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Ростислав Ярославович Скрипник</dc:creator>
  <cp:lastModifiedBy>Антонюк Владислав Андрійович</cp:lastModifiedBy>
  <cp:revision>71</cp:revision>
  <dcterms:created xsi:type="dcterms:W3CDTF">2025-06-11T08:20:04Z</dcterms:created>
  <dcterms:modified xsi:type="dcterms:W3CDTF">2025-11-05T09:30:06Z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0x0101004C53B6EC75545445A23B6CAF1AE71915</vt:lpwstr>
  </property>
</Properties>
</file>